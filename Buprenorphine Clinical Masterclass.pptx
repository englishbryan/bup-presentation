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4"/>
  </p:notesMasterIdLst>
  <p:sldIdLst>
    <p:sldId id="371" r:id="rId2"/>
    <p:sldId id="280" r:id="rId3"/>
    <p:sldId id="370" r:id="rId4"/>
    <p:sldId id="258" r:id="rId5"/>
    <p:sldId id="283" r:id="rId6"/>
    <p:sldId id="259" r:id="rId7"/>
    <p:sldId id="315" r:id="rId8"/>
    <p:sldId id="261" r:id="rId9"/>
    <p:sldId id="262" r:id="rId10"/>
    <p:sldId id="286" r:id="rId11"/>
    <p:sldId id="269" r:id="rId12"/>
    <p:sldId id="318" r:id="rId13"/>
    <p:sldId id="263" r:id="rId14"/>
    <p:sldId id="309" r:id="rId15"/>
    <p:sldId id="312" r:id="rId16"/>
    <p:sldId id="319" r:id="rId17"/>
    <p:sldId id="324" r:id="rId18"/>
    <p:sldId id="325" r:id="rId19"/>
    <p:sldId id="326" r:id="rId20"/>
    <p:sldId id="268" r:id="rId21"/>
    <p:sldId id="290" r:id="rId22"/>
    <p:sldId id="271" r:id="rId23"/>
    <p:sldId id="328" r:id="rId24"/>
    <p:sldId id="341" r:id="rId25"/>
    <p:sldId id="336" r:id="rId26"/>
    <p:sldId id="275" r:id="rId27"/>
    <p:sldId id="354" r:id="rId28"/>
    <p:sldId id="359" r:id="rId29"/>
    <p:sldId id="346" r:id="rId30"/>
    <p:sldId id="348" r:id="rId31"/>
    <p:sldId id="349" r:id="rId32"/>
    <p:sldId id="368" r:id="rId33"/>
  </p:sldIdLst>
  <p:sldSz cx="12192000" cy="6858000"/>
  <p:notesSz cx="6858000" cy="9144000"/>
  <p:embeddedFontLst>
    <p:embeddedFont>
      <p:font typeface="Inter" panose="02110004020202020204"/>
      <p:regular r:id="rId35"/>
      <p:bold r:id="rId36"/>
      <p:italic r:id="rId37"/>
      <p:boldItalic r:id="rId38"/>
    </p:embeddedFont>
    <p:embeddedFont>
      <p:font typeface="Inter Medium" panose="02000503000000020004" pitchFamily="2" charset="0"/>
      <p:regular r:id="rId39"/>
      <p:bold r:id="rId40"/>
      <p:italic r:id="rId41"/>
      <p:boldItalic r:id="rId42"/>
    </p:embeddedFont>
    <p:embeddedFont>
      <p:font typeface="Inter SemiBold" panose="02000503000000020004" pitchFamily="2" charset="0"/>
      <p:regular r:id="rId43"/>
      <p:bold r:id="rId44"/>
      <p:italic r:id="rId45"/>
      <p:boldItalic r:id="rId46"/>
    </p:embeddedFont>
    <p:embeddedFont>
      <p:font typeface="Plus Jakarta Sans" pitchFamily="2" charset="77"/>
      <p:regular r:id="rId47"/>
      <p:bold r:id="rId48"/>
      <p:italic r:id="rId49"/>
      <p:boldItalic r:id="rId50"/>
    </p:embeddedFont>
    <p:embeddedFont>
      <p:font typeface="Plus Jakarta Sans ExtraBold" pitchFamily="2" charset="77"/>
      <p:bold r:id="rId51"/>
      <p:italic r:id="rId52"/>
      <p:boldItalic r:id="rId53"/>
    </p:embeddedFont>
    <p:embeddedFont>
      <p:font typeface="Plus Jakarta Sans SemiBold" pitchFamily="2" charset="77"/>
      <p:regular r:id="rId54"/>
      <p:bold r:id="rId55"/>
      <p:italic r:id="rId56"/>
      <p:boldItalic r:id="rId5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462"/>
    <p:restoredTop sz="87763"/>
  </p:normalViewPr>
  <p:slideViewPr>
    <p:cSldViewPr snapToGrid="0">
      <p:cViewPr varScale="1">
        <p:scale>
          <a:sx n="113" d="100"/>
          <a:sy n="113" d="100"/>
        </p:scale>
        <p:origin x="192" y="9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5.fntdata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42" Type="http://schemas.openxmlformats.org/officeDocument/2006/relationships/font" Target="fonts/font8.fntdata"/><Relationship Id="rId47" Type="http://schemas.openxmlformats.org/officeDocument/2006/relationships/font" Target="fonts/font13.fntdata"/><Relationship Id="rId50" Type="http://schemas.openxmlformats.org/officeDocument/2006/relationships/font" Target="fonts/font16.fntdata"/><Relationship Id="rId55" Type="http://schemas.openxmlformats.org/officeDocument/2006/relationships/font" Target="fonts/font21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3.fntdata"/><Relationship Id="rId40" Type="http://schemas.openxmlformats.org/officeDocument/2006/relationships/font" Target="fonts/font6.fntdata"/><Relationship Id="rId45" Type="http://schemas.openxmlformats.org/officeDocument/2006/relationships/font" Target="fonts/font11.fntdata"/><Relationship Id="rId53" Type="http://schemas.openxmlformats.org/officeDocument/2006/relationships/font" Target="fonts/font19.fntdata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1.fntdata"/><Relationship Id="rId43" Type="http://schemas.openxmlformats.org/officeDocument/2006/relationships/font" Target="fonts/font9.fntdata"/><Relationship Id="rId48" Type="http://schemas.openxmlformats.org/officeDocument/2006/relationships/font" Target="fonts/font14.fntdata"/><Relationship Id="rId56" Type="http://schemas.openxmlformats.org/officeDocument/2006/relationships/font" Target="fonts/font22.fntdata"/><Relationship Id="rId8" Type="http://schemas.openxmlformats.org/officeDocument/2006/relationships/slide" Target="slides/slide7.xml"/><Relationship Id="rId51" Type="http://schemas.openxmlformats.org/officeDocument/2006/relationships/font" Target="fonts/font17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4.fntdata"/><Relationship Id="rId46" Type="http://schemas.openxmlformats.org/officeDocument/2006/relationships/font" Target="fonts/font12.fntdata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font" Target="fonts/font7.fntdata"/><Relationship Id="rId54" Type="http://schemas.openxmlformats.org/officeDocument/2006/relationships/font" Target="fonts/font2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2.fntdata"/><Relationship Id="rId49" Type="http://schemas.openxmlformats.org/officeDocument/2006/relationships/font" Target="fonts/font15.fntdata"/><Relationship Id="rId57" Type="http://schemas.openxmlformats.org/officeDocument/2006/relationships/font" Target="fonts/font23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10.fntdata"/><Relationship Id="rId52" Type="http://schemas.openxmlformats.org/officeDocument/2006/relationships/font" Target="fonts/font18.fntdata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4" name="Google Shape;20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>
          <a:extLst>
            <a:ext uri="{FF2B5EF4-FFF2-40B4-BE49-F238E27FC236}">
              <a16:creationId xmlns:a16="http://schemas.microsoft.com/office/drawing/2014/main" id="{2CE48A69-2AC3-C30E-0BC0-E84F6DC298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8:notes">
            <a:extLst>
              <a:ext uri="{FF2B5EF4-FFF2-40B4-BE49-F238E27FC236}">
                <a16:creationId xmlns:a16="http://schemas.microsoft.com/office/drawing/2014/main" id="{58373EE4-6BEE-E64B-2325-4D0FE20237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4" name="Google Shape;204;p8:notes">
            <a:extLst>
              <a:ext uri="{FF2B5EF4-FFF2-40B4-BE49-F238E27FC236}">
                <a16:creationId xmlns:a16="http://schemas.microsoft.com/office/drawing/2014/main" id="{12E693EC-EFDF-C98E-3233-9305D323DF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514948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>
          <a:extLst>
            <a:ext uri="{FF2B5EF4-FFF2-40B4-BE49-F238E27FC236}">
              <a16:creationId xmlns:a16="http://schemas.microsoft.com/office/drawing/2014/main" id="{F48D5552-C552-5242-B9E4-E7D4A00AB7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8:notes">
            <a:extLst>
              <a:ext uri="{FF2B5EF4-FFF2-40B4-BE49-F238E27FC236}">
                <a16:creationId xmlns:a16="http://schemas.microsoft.com/office/drawing/2014/main" id="{F54F0421-6E08-1742-3353-AF0CD1F662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sz="110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Address Objections:</a:t>
            </a:r>
            <a:r>
              <a:rPr lang="en-US" sz="11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"This is enabling" → It reduces mortality by &gt;50%. We don't withhold insulin for diabetes.</a:t>
            </a:r>
            <a:endParaRPr lang="en-US" dirty="0"/>
          </a:p>
        </p:txBody>
      </p:sp>
      <p:sp>
        <p:nvSpPr>
          <p:cNvPr id="204" name="Google Shape;204;p8:notes">
            <a:extLst>
              <a:ext uri="{FF2B5EF4-FFF2-40B4-BE49-F238E27FC236}">
                <a16:creationId xmlns:a16="http://schemas.microsoft.com/office/drawing/2014/main" id="{E81AF3BD-2780-38C0-D09B-47BE3FD5F3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9067112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114226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" name="Google Shape;35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&lt;30% EM physician feel comfortable with initiating buprenorphine induction due to fee of precipitated withdrawal</a:t>
            </a:r>
            <a:endParaRPr dirty="0"/>
          </a:p>
        </p:txBody>
      </p:sp>
      <p:sp>
        <p:nvSpPr>
          <p:cNvPr id="372" name="Google Shape;37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" name="Google Shape;385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" name="Google Shape;399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" name="Google Shape;431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9">
          <a:extLst>
            <a:ext uri="{FF2B5EF4-FFF2-40B4-BE49-F238E27FC236}">
              <a16:creationId xmlns:a16="http://schemas.microsoft.com/office/drawing/2014/main" id="{183397A1-10FE-42DE-F123-5F5A38516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21:notes">
            <a:extLst>
              <a:ext uri="{FF2B5EF4-FFF2-40B4-BE49-F238E27FC236}">
                <a16:creationId xmlns:a16="http://schemas.microsoft.com/office/drawing/2014/main" id="{4EC7C281-4B6E-B163-C955-EF833FD155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" name="Google Shape;431;p21:notes">
            <a:extLst>
              <a:ext uri="{FF2B5EF4-FFF2-40B4-BE49-F238E27FC236}">
                <a16:creationId xmlns:a16="http://schemas.microsoft.com/office/drawing/2014/main" id="{39B73AF9-BF24-AAF7-CCF3-7A0E6651E2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8472272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9">
          <a:extLst>
            <a:ext uri="{FF2B5EF4-FFF2-40B4-BE49-F238E27FC236}">
              <a16:creationId xmlns:a16="http://schemas.microsoft.com/office/drawing/2014/main" id="{3CA919F3-53DC-B0E1-7B1C-94E6A14C2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21:notes">
            <a:extLst>
              <a:ext uri="{FF2B5EF4-FFF2-40B4-BE49-F238E27FC236}">
                <a16:creationId xmlns:a16="http://schemas.microsoft.com/office/drawing/2014/main" id="{1393FD5E-C0A8-A9FE-E0B3-C18A70A042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" name="Google Shape;431;p21:notes">
            <a:extLst>
              <a:ext uri="{FF2B5EF4-FFF2-40B4-BE49-F238E27FC236}">
                <a16:creationId xmlns:a16="http://schemas.microsoft.com/office/drawing/2014/main" id="{8B6618B5-C8E5-7E3D-FC3C-26BD894AE9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2754531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9">
          <a:extLst>
            <a:ext uri="{FF2B5EF4-FFF2-40B4-BE49-F238E27FC236}">
              <a16:creationId xmlns:a16="http://schemas.microsoft.com/office/drawing/2014/main" id="{B476F56D-3336-4769-9A23-E87080613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21:notes">
            <a:extLst>
              <a:ext uri="{FF2B5EF4-FFF2-40B4-BE49-F238E27FC236}">
                <a16:creationId xmlns:a16="http://schemas.microsoft.com/office/drawing/2014/main" id="{914DBDE8-8B79-9F37-C29D-39BB15845E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" name="Google Shape;431;p21:notes">
            <a:extLst>
              <a:ext uri="{FF2B5EF4-FFF2-40B4-BE49-F238E27FC236}">
                <a16:creationId xmlns:a16="http://schemas.microsoft.com/office/drawing/2014/main" id="{37324C0F-F93F-4FBD-4396-7B90CC1A2C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368315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" name="Google Shape;399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1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1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5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1.pn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11" Type="http://schemas.openxmlformats.org/officeDocument/2006/relationships/image" Target="../media/image52.png"/><Relationship Id="rId5" Type="http://schemas.openxmlformats.org/officeDocument/2006/relationships/image" Target="../media/image47.png"/><Relationship Id="rId10" Type="http://schemas.openxmlformats.org/officeDocument/2006/relationships/image" Target="../media/image51.png"/><Relationship Id="rId4" Type="http://schemas.openxmlformats.org/officeDocument/2006/relationships/image" Target="../media/image46.png"/><Relationship Id="rId9" Type="http://schemas.openxmlformats.org/officeDocument/2006/relationships/image" Target="../media/image50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1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1.png"/><Relationship Id="rId7" Type="http://schemas.openxmlformats.org/officeDocument/2006/relationships/image" Target="../media/image6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Relationship Id="rId9" Type="http://schemas.openxmlformats.org/officeDocument/2006/relationships/image" Target="../media/image6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8.sv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7.jpeg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svg"/><Relationship Id="rId3" Type="http://schemas.openxmlformats.org/officeDocument/2006/relationships/image" Target="../media/image1.png"/><Relationship Id="rId7" Type="http://schemas.openxmlformats.org/officeDocument/2006/relationships/image" Target="../media/image72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1.svg"/><Relationship Id="rId5" Type="http://schemas.openxmlformats.org/officeDocument/2006/relationships/image" Target="../media/image70.svg"/><Relationship Id="rId10" Type="http://schemas.openxmlformats.org/officeDocument/2006/relationships/image" Target="../media/image75.svg"/><Relationship Id="rId4" Type="http://schemas.openxmlformats.org/officeDocument/2006/relationships/image" Target="../media/image69.svg"/><Relationship Id="rId9" Type="http://schemas.openxmlformats.org/officeDocument/2006/relationships/image" Target="../media/image74.sv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8.png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9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3" Type="http://schemas.openxmlformats.org/officeDocument/2006/relationships/image" Target="../media/image1.png"/><Relationship Id="rId7" Type="http://schemas.openxmlformats.org/officeDocument/2006/relationships/image" Target="../media/image8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2.png"/><Relationship Id="rId5" Type="http://schemas.openxmlformats.org/officeDocument/2006/relationships/image" Target="../media/image81.png"/><Relationship Id="rId4" Type="http://schemas.openxmlformats.org/officeDocument/2006/relationships/image" Target="../media/image80.png"/><Relationship Id="rId9" Type="http://schemas.openxmlformats.org/officeDocument/2006/relationships/image" Target="../media/image8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1.svg"/><Relationship Id="rId5" Type="http://schemas.openxmlformats.org/officeDocument/2006/relationships/image" Target="../media/image70.svg"/><Relationship Id="rId4" Type="http://schemas.openxmlformats.org/officeDocument/2006/relationships/image" Target="../media/image6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095375" y="2491829"/>
            <a:ext cx="10001250" cy="1340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0" i="0" u="none" strike="noStrike" cap="none">
                <a:solidFill>
                  <a:srgbClr val="F8FAFC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Opioid Use Disorder in the Emergency Department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333500" y="4023270"/>
            <a:ext cx="952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Bridging the Gap: Clinical Theory, Edge Cases, and Simulated Practice</a:t>
            </a:r>
            <a:endParaRPr dirty="0"/>
          </a:p>
        </p:txBody>
      </p:sp>
      <p:sp>
        <p:nvSpPr>
          <p:cNvPr id="3" name="Google Shape;86;p13">
            <a:extLst>
              <a:ext uri="{FF2B5EF4-FFF2-40B4-BE49-F238E27FC236}">
                <a16:creationId xmlns:a16="http://schemas.microsoft.com/office/drawing/2014/main" id="{D804BC86-838D-FB4D-A754-E74821092928}"/>
              </a:ext>
            </a:extLst>
          </p:cNvPr>
          <p:cNvSpPr txBox="1"/>
          <p:nvPr/>
        </p:nvSpPr>
        <p:spPr>
          <a:xfrm>
            <a:off x="1333500" y="5914505"/>
            <a:ext cx="9525000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F8FAFC"/>
                </a:solidFill>
                <a:latin typeface="Inter Medium"/>
                <a:ea typeface="Inter Medium"/>
                <a:cs typeface="Inter Medium"/>
                <a:sym typeface="Inter Medium"/>
              </a:rPr>
              <a:t>Bryan English, MD</a:t>
            </a: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 dirty="0">
                <a:solidFill>
                  <a:srgbClr val="06B6D4"/>
                </a:solidFill>
                <a:latin typeface="Inter Medium"/>
                <a:ea typeface="Inter Medium"/>
                <a:cs typeface="Inter Medium"/>
                <a:sym typeface="Inter Medium"/>
              </a:rPr>
              <a:t>Department of Emergency Medicine  ·  Stony Brook University</a:t>
            </a:r>
          </a:p>
        </p:txBody>
      </p:sp>
    </p:spTree>
    <p:extLst>
      <p:ext uri="{BB962C8B-B14F-4D97-AF65-F5344CB8AC3E}">
        <p14:creationId xmlns:p14="http://schemas.microsoft.com/office/powerpoint/2010/main" val="10078437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pied Picture 2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itle"/>
          <p:cNvSpPr txBox="1"/>
          <p:nvPr/>
        </p:nvSpPr>
        <p:spPr>
          <a:xfrm>
            <a:off x="571500" y="482600"/>
            <a:ext cx="11607800" cy="520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Learning Objectives</a:t>
            </a:r>
            <a:endParaRPr/>
          </a:p>
        </p:txBody>
      </p:sp>
      <p:sp>
        <p:nvSpPr>
          <p:cNvPr id="11" name="Rule"/>
          <p:cNvSpPr/>
          <p:nvPr/>
        </p:nvSpPr>
        <p:spPr>
          <a:xfrm>
            <a:off x="571500" y="1130300"/>
            <a:ext cx="11049000" cy="254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Subtitle"/>
          <p:cNvSpPr txBox="1"/>
          <p:nvPr/>
        </p:nvSpPr>
        <p:spPr>
          <a:xfrm>
            <a:off x="571500" y="1651000"/>
            <a:ext cx="11049000" cy="292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By the end of this session, you will be able to:</a:t>
            </a:r>
            <a:endParaRPr/>
          </a:p>
        </p:txBody>
      </p:sp>
      <p:sp>
        <p:nvSpPr>
          <p:cNvPr id="21" name="Num1"/>
          <p:cNvSpPr txBox="1"/>
          <p:nvPr/>
        </p:nvSpPr>
        <p:spPr>
          <a:xfrm>
            <a:off x="571500" y="2222500"/>
            <a:ext cx="508000" cy="698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06B6D4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1</a:t>
            </a:r>
            <a:endParaRPr/>
          </a:p>
        </p:txBody>
      </p:sp>
      <p:sp>
        <p:nvSpPr>
          <p:cNvPr id="31" name="ObjTitle1"/>
          <p:cNvSpPr txBox="1"/>
          <p:nvPr/>
        </p:nvSpPr>
        <p:spPr>
          <a:xfrm>
            <a:off x="1270000" y="2222500"/>
            <a:ext cx="10414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6B6D4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Recognize OUD</a:t>
            </a:r>
            <a:endParaRPr/>
          </a:p>
        </p:txBody>
      </p:sp>
      <p:sp>
        <p:nvSpPr>
          <p:cNvPr id="41" name="ObjDesc1"/>
          <p:cNvSpPr txBox="1"/>
          <p:nvPr/>
        </p:nvSpPr>
        <p:spPr>
          <a:xfrm>
            <a:off x="1270000" y="2578100"/>
            <a:ext cx="10414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Identify opioid use disorder using a pattern-based approach to DSM-5 criteria in the ED setting</a:t>
            </a:r>
            <a:endParaRPr/>
          </a:p>
        </p:txBody>
      </p:sp>
      <p:sp>
        <p:nvSpPr>
          <p:cNvPr id="22" name="Num2"/>
          <p:cNvSpPr txBox="1"/>
          <p:nvPr/>
        </p:nvSpPr>
        <p:spPr>
          <a:xfrm>
            <a:off x="571500" y="3111500"/>
            <a:ext cx="508000" cy="698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06B6D4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2</a:t>
            </a:r>
            <a:endParaRPr/>
          </a:p>
        </p:txBody>
      </p:sp>
      <p:sp>
        <p:nvSpPr>
          <p:cNvPr id="32" name="ObjTitle2"/>
          <p:cNvSpPr txBox="1"/>
          <p:nvPr/>
        </p:nvSpPr>
        <p:spPr>
          <a:xfrm>
            <a:off x="1270000" y="3111500"/>
            <a:ext cx="10414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6B6D4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Assess Readiness</a:t>
            </a:r>
            <a:endParaRPr/>
          </a:p>
        </p:txBody>
      </p:sp>
      <p:sp>
        <p:nvSpPr>
          <p:cNvPr id="42" name="ObjDesc2"/>
          <p:cNvSpPr txBox="1"/>
          <p:nvPr/>
        </p:nvSpPr>
        <p:spPr>
          <a:xfrm>
            <a:off x="1270000" y="3467100"/>
            <a:ext cx="10414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Evaluate withdrawal status and apply the pre-induction checklist to determine timing for buprenorphine initiation</a:t>
            </a:r>
            <a:endParaRPr/>
          </a:p>
        </p:txBody>
      </p:sp>
      <p:sp>
        <p:nvSpPr>
          <p:cNvPr id="23" name="Num3"/>
          <p:cNvSpPr txBox="1"/>
          <p:nvPr/>
        </p:nvSpPr>
        <p:spPr>
          <a:xfrm>
            <a:off x="571500" y="4000500"/>
            <a:ext cx="508000" cy="698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06B6D4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3</a:t>
            </a:r>
            <a:endParaRPr/>
          </a:p>
        </p:txBody>
      </p:sp>
      <p:sp>
        <p:nvSpPr>
          <p:cNvPr id="33" name="ObjTitle3"/>
          <p:cNvSpPr txBox="1"/>
          <p:nvPr/>
        </p:nvSpPr>
        <p:spPr>
          <a:xfrm>
            <a:off x="1270000" y="4000500"/>
            <a:ext cx="10414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6B6D4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Initiate Buprenorphine</a:t>
            </a:r>
            <a:endParaRPr/>
          </a:p>
        </p:txBody>
      </p:sp>
      <p:sp>
        <p:nvSpPr>
          <p:cNvPr id="43" name="ObjDesc3"/>
          <p:cNvSpPr txBox="1"/>
          <p:nvPr/>
        </p:nvSpPr>
        <p:spPr>
          <a:xfrm>
            <a:off x="1270000" y="4356100"/>
            <a:ext cx="10414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Execute standard and rapid induction protocols, including fentanyl-involved cases</a:t>
            </a:r>
            <a:endParaRPr/>
          </a:p>
        </p:txBody>
      </p:sp>
      <p:sp>
        <p:nvSpPr>
          <p:cNvPr id="24" name="Num4"/>
          <p:cNvSpPr txBox="1"/>
          <p:nvPr/>
        </p:nvSpPr>
        <p:spPr>
          <a:xfrm>
            <a:off x="571500" y="4889500"/>
            <a:ext cx="508000" cy="698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06B6D4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4</a:t>
            </a:r>
            <a:endParaRPr/>
          </a:p>
        </p:txBody>
      </p:sp>
      <p:sp>
        <p:nvSpPr>
          <p:cNvPr id="34" name="ObjTitle4"/>
          <p:cNvSpPr txBox="1"/>
          <p:nvPr/>
        </p:nvSpPr>
        <p:spPr>
          <a:xfrm>
            <a:off x="1270000" y="4889500"/>
            <a:ext cx="10414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6B6D4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Manage Complications</a:t>
            </a:r>
            <a:endParaRPr/>
          </a:p>
        </p:txBody>
      </p:sp>
      <p:sp>
        <p:nvSpPr>
          <p:cNvPr id="44" name="ObjDesc4"/>
          <p:cNvSpPr txBox="1"/>
          <p:nvPr/>
        </p:nvSpPr>
        <p:spPr>
          <a:xfrm>
            <a:off x="1270000" y="5245100"/>
            <a:ext cx="10414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Differentiate undertreated from precipitated withdrawal and apply the 90-minute red zone bundle</a:t>
            </a:r>
            <a:endParaRPr/>
          </a:p>
        </p:txBody>
      </p:sp>
      <p:sp>
        <p:nvSpPr>
          <p:cNvPr id="25" name="Num5"/>
          <p:cNvSpPr txBox="1"/>
          <p:nvPr/>
        </p:nvSpPr>
        <p:spPr>
          <a:xfrm>
            <a:off x="571500" y="5778500"/>
            <a:ext cx="508000" cy="698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06B6D4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5</a:t>
            </a:r>
            <a:endParaRPr/>
          </a:p>
        </p:txBody>
      </p:sp>
      <p:sp>
        <p:nvSpPr>
          <p:cNvPr id="35" name="ObjTitle5"/>
          <p:cNvSpPr txBox="1"/>
          <p:nvPr/>
        </p:nvSpPr>
        <p:spPr>
          <a:xfrm>
            <a:off x="1270000" y="5778500"/>
            <a:ext cx="10414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6B6D4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Plan Disposition</a:t>
            </a:r>
            <a:endParaRPr/>
          </a:p>
        </p:txBody>
      </p:sp>
      <p:sp>
        <p:nvSpPr>
          <p:cNvPr id="45" name="ObjDesc5"/>
          <p:cNvSpPr txBox="1"/>
          <p:nvPr/>
        </p:nvSpPr>
        <p:spPr>
          <a:xfrm>
            <a:off x="1270000" y="6134100"/>
            <a:ext cx="10414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Develop a maintenance and discharge plan addressing complicating factors and ensuring continuity of care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326057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 txBox="1"/>
          <p:nvPr/>
        </p:nvSpPr>
        <p:spPr>
          <a:xfrm>
            <a:off x="6201965" y="2200275"/>
            <a:ext cx="5550693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6B6D4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Why Start in the ED?</a:t>
            </a:r>
            <a:endParaRPr/>
          </a:p>
        </p:txBody>
      </p:sp>
      <p:sp>
        <p:nvSpPr>
          <p:cNvPr id="93" name="Google Shape;93;p14"/>
          <p:cNvSpPr txBox="1"/>
          <p:nvPr/>
        </p:nvSpPr>
        <p:spPr>
          <a:xfrm>
            <a:off x="6334125" y="2867025"/>
            <a:ext cx="52863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Buprenorphine initiation is incredibly high-yield: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904875" y="2638425"/>
            <a:ext cx="4953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&gt;80,000 Overdose Deaths (2023):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Fentanyl drives the crisis.</a:t>
            </a:r>
            <a:endParaRPr dirty="0"/>
          </a:p>
        </p:txBody>
      </p:sp>
      <p:sp>
        <p:nvSpPr>
          <p:cNvPr id="95" name="Google Shape;95;p14"/>
          <p:cNvSpPr txBox="1"/>
          <p:nvPr/>
        </p:nvSpPr>
        <p:spPr>
          <a:xfrm>
            <a:off x="904875" y="3381375"/>
            <a:ext cx="49530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ED Volume: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2-3% of all ER visits involve opioids, and 18-25% involve alcohol. SUD is massively underdiagnosed.</a:t>
            </a:r>
            <a:endParaRPr dirty="0"/>
          </a:p>
        </p:txBody>
      </p:sp>
      <p:sp>
        <p:nvSpPr>
          <p:cNvPr id="96" name="Google Shape;96;p14"/>
          <p:cNvSpPr txBox="1"/>
          <p:nvPr/>
        </p:nvSpPr>
        <p:spPr>
          <a:xfrm>
            <a:off x="904875" y="4410075"/>
            <a:ext cx="4953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Treatment Gap: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Only 19% of patients with OUD receive medication.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6334125" y="3533775"/>
            <a:ext cx="2547937" cy="104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0" b="0" i="0" u="none" strike="noStrike" cap="none" dirty="0">
                <a:solidFill>
                  <a:srgbClr val="06B6D4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2</a:t>
            </a:r>
            <a:endParaRPr dirty="0"/>
          </a:p>
        </p:txBody>
      </p:sp>
      <p:sp>
        <p:nvSpPr>
          <p:cNvPr id="98" name="Google Shape;98;p14"/>
          <p:cNvSpPr txBox="1"/>
          <p:nvPr/>
        </p:nvSpPr>
        <p:spPr>
          <a:xfrm>
            <a:off x="6334125" y="4676775"/>
            <a:ext cx="2547937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Number Needed to Treat (NNT)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0" i="0" u="none" strike="noStrike" cap="none" dirty="0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to retain in treatment</a:t>
            </a:r>
            <a:endParaRPr dirty="0"/>
          </a:p>
        </p:txBody>
      </p:sp>
      <p:sp>
        <p:nvSpPr>
          <p:cNvPr id="99" name="Google Shape;99;p14"/>
          <p:cNvSpPr txBox="1"/>
          <p:nvPr/>
        </p:nvSpPr>
        <p:spPr>
          <a:xfrm>
            <a:off x="9072562" y="3533775"/>
            <a:ext cx="2547937" cy="104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0" b="0" i="0" u="none" strike="noStrike" cap="none">
                <a:solidFill>
                  <a:srgbClr val="06B6D4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3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9072562" y="4676775"/>
            <a:ext cx="2547937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Number Needed to Treat (NNT)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0" i="0" u="none" strike="noStrike" cap="non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to stop illicit drug use</a:t>
            </a:r>
            <a:endParaRPr/>
          </a:p>
        </p:txBody>
      </p:sp>
      <p:pic>
        <p:nvPicPr>
          <p:cNvPr id="101" name="Google Shape;101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67176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414712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443412"/>
            <a:ext cx="21907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Emergency Department Reality</a:t>
            </a:r>
            <a:endParaRPr/>
          </a:p>
        </p:txBody>
      </p:sp>
      <p:sp>
        <p:nvSpPr>
          <p:cNvPr id="105" name="Google Shape;105;p14"/>
          <p:cNvSpPr/>
          <p:nvPr/>
        </p:nvSpPr>
        <p:spPr>
          <a:xfrm>
            <a:off x="571500" y="1123950"/>
            <a:ext cx="1104900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41522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638425"/>
            <a:ext cx="2547937" cy="320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05187" y="2638425"/>
            <a:ext cx="2547937" cy="320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38875" y="2638425"/>
            <a:ext cx="2547937" cy="320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072562" y="2638425"/>
            <a:ext cx="2547937" cy="32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 txBox="1"/>
          <p:nvPr/>
        </p:nvSpPr>
        <p:spPr>
          <a:xfrm>
            <a:off x="571500" y="2066925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Heuristic: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You don't need all 11 criteria memorized—recognize the clinical pattern. (≥2 criteria in 12 months = OUD).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866775" y="3590925"/>
            <a:ext cx="2055256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06B6D4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Impaired Control</a:t>
            </a:r>
            <a:endParaRPr dirty="0"/>
          </a:p>
        </p:txBody>
      </p:sp>
      <p:sp>
        <p:nvSpPr>
          <p:cNvPr id="117" name="Google Shape;117;p15"/>
          <p:cNvSpPr txBox="1"/>
          <p:nvPr/>
        </p:nvSpPr>
        <p:spPr>
          <a:xfrm>
            <a:off x="866775" y="4400550"/>
            <a:ext cx="1957387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Using more/longer than intended, or failed attempts to cut down.</a:t>
            </a:r>
            <a:endParaRPr dirty="0"/>
          </a:p>
        </p:txBody>
      </p:sp>
      <p:sp>
        <p:nvSpPr>
          <p:cNvPr id="118" name="Google Shape;118;p15"/>
          <p:cNvSpPr txBox="1"/>
          <p:nvPr/>
        </p:nvSpPr>
        <p:spPr>
          <a:xfrm>
            <a:off x="3700462" y="3590925"/>
            <a:ext cx="2055256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6B6D4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Social Impairment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3700462" y="4400550"/>
            <a:ext cx="1957387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Failure to fulfill major role obligations, or giving up important activities.</a:t>
            </a:r>
            <a:endParaRPr dirty="0"/>
          </a:p>
        </p:txBody>
      </p:sp>
      <p:sp>
        <p:nvSpPr>
          <p:cNvPr id="120" name="Google Shape;120;p15"/>
          <p:cNvSpPr txBox="1"/>
          <p:nvPr/>
        </p:nvSpPr>
        <p:spPr>
          <a:xfrm>
            <a:off x="6534150" y="3590925"/>
            <a:ext cx="2055256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6B6D4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Risky Use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6534150" y="4067175"/>
            <a:ext cx="1957387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Continued use in physically hazardous situations despite consequences.</a:t>
            </a:r>
            <a:endParaRPr dirty="0"/>
          </a:p>
        </p:txBody>
      </p:sp>
      <p:sp>
        <p:nvSpPr>
          <p:cNvPr id="122" name="Google Shape;122;p15"/>
          <p:cNvSpPr txBox="1"/>
          <p:nvPr/>
        </p:nvSpPr>
        <p:spPr>
          <a:xfrm>
            <a:off x="9367837" y="3590925"/>
            <a:ext cx="2055256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6B6D4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Pharmacologic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9367837" y="4067175"/>
            <a:ext cx="1957387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Tolerance (needing more) and Withdrawal (symptoms when stopping).</a:t>
            </a:r>
            <a:endParaRPr dirty="0"/>
          </a:p>
        </p:txBody>
      </p:sp>
      <p:pic>
        <p:nvPicPr>
          <p:cNvPr id="124" name="Google Shape;124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66775" y="297180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700462" y="2971800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534150" y="297180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5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9367837" y="2971800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5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OUD Diagnosis (DSM-5 Criteria)</a:t>
            </a:r>
            <a:endParaRPr/>
          </a:p>
        </p:txBody>
      </p:sp>
      <p:sp>
        <p:nvSpPr>
          <p:cNvPr id="129" name="Google Shape;129;p15"/>
          <p:cNvSpPr/>
          <p:nvPr/>
        </p:nvSpPr>
        <p:spPr>
          <a:xfrm>
            <a:off x="571500" y="1123950"/>
            <a:ext cx="1104900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pied Picture 2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itle"/>
          <p:cNvSpPr txBox="1"/>
          <p:nvPr/>
        </p:nvSpPr>
        <p:spPr>
          <a:xfrm>
            <a:off x="571500" y="482600"/>
            <a:ext cx="11607800" cy="520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What is Buprenorphine?</a:t>
            </a:r>
            <a:endParaRPr/>
          </a:p>
        </p:txBody>
      </p:sp>
      <p:sp>
        <p:nvSpPr>
          <p:cNvPr id="11" name="Rule"/>
          <p:cNvSpPr/>
          <p:nvPr/>
        </p:nvSpPr>
        <p:spPr>
          <a:xfrm>
            <a:off x="571500" y="1130300"/>
            <a:ext cx="11049000" cy="254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Subtitle"/>
          <p:cNvSpPr txBox="1"/>
          <p:nvPr/>
        </p:nvSpPr>
        <p:spPr>
          <a:xfrm>
            <a:off x="571500" y="1371600"/>
            <a:ext cx="11049000" cy="317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 partial opioid agonist that is the cornerstone of medication-assisted treatment for OUD</a:t>
            </a:r>
            <a:endParaRPr/>
          </a:p>
        </p:txBody>
      </p:sp>
      <p:sp>
        <p:nvSpPr>
          <p:cNvPr id="30" name="CardBg20"/>
          <p:cNvSpPr/>
          <p:nvPr/>
        </p:nvSpPr>
        <p:spPr>
          <a:xfrm>
            <a:off x="571500" y="1905000"/>
            <a:ext cx="5334000" cy="13970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0" name="CardLabel20"/>
          <p:cNvSpPr txBox="1"/>
          <p:nvPr/>
        </p:nvSpPr>
        <p:spPr>
          <a:xfrm>
            <a:off x="825500" y="2082800"/>
            <a:ext cx="4826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6B6D4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Partial Agonist</a:t>
            </a:r>
            <a:endParaRPr/>
          </a:p>
        </p:txBody>
      </p:sp>
      <p:sp>
        <p:nvSpPr>
          <p:cNvPr id="20" name="CardDesc20"/>
          <p:cNvSpPr txBox="1"/>
          <p:nvPr/>
        </p:nvSpPr>
        <p:spPr>
          <a:xfrm>
            <a:off x="825500" y="2438400"/>
            <a:ext cx="48260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Binds mu-opioid receptors with high affinity but only partial activation — relieves withdrawal and cravings without full euphoria</a:t>
            </a:r>
            <a:endParaRPr/>
          </a:p>
        </p:txBody>
      </p:sp>
      <p:sp>
        <p:nvSpPr>
          <p:cNvPr id="31" name="CardBg21"/>
          <p:cNvSpPr/>
          <p:nvPr/>
        </p:nvSpPr>
        <p:spPr>
          <a:xfrm>
            <a:off x="571500" y="3429000"/>
            <a:ext cx="5334000" cy="13970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1" name="CardLabel21"/>
          <p:cNvSpPr txBox="1"/>
          <p:nvPr/>
        </p:nvSpPr>
        <p:spPr>
          <a:xfrm>
            <a:off x="825500" y="3606800"/>
            <a:ext cx="4826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6B6D4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Ceiling Effect</a:t>
            </a:r>
            <a:endParaRPr/>
          </a:p>
        </p:txBody>
      </p:sp>
      <p:sp>
        <p:nvSpPr>
          <p:cNvPr id="21" name="CardDesc21"/>
          <p:cNvSpPr txBox="1"/>
          <p:nvPr/>
        </p:nvSpPr>
        <p:spPr>
          <a:xfrm>
            <a:off x="825500" y="3962400"/>
            <a:ext cx="48260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Respiratory depression plateaus at moderate doses, making overdose far less likely than with full agonists like methadone or fentanyl</a:t>
            </a:r>
            <a:endParaRPr/>
          </a:p>
        </p:txBody>
      </p:sp>
      <p:sp>
        <p:nvSpPr>
          <p:cNvPr id="32" name="CardBg22"/>
          <p:cNvSpPr/>
          <p:nvPr/>
        </p:nvSpPr>
        <p:spPr>
          <a:xfrm>
            <a:off x="571500" y="4953000"/>
            <a:ext cx="5334000" cy="13970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2" name="CardLabel22"/>
          <p:cNvSpPr txBox="1"/>
          <p:nvPr/>
        </p:nvSpPr>
        <p:spPr>
          <a:xfrm>
            <a:off x="825500" y="5130800"/>
            <a:ext cx="4826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6B6D4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Sublingual Formulations</a:t>
            </a:r>
            <a:endParaRPr/>
          </a:p>
        </p:txBody>
      </p:sp>
      <p:sp>
        <p:nvSpPr>
          <p:cNvPr id="22" name="CardDesc22"/>
          <p:cNvSpPr txBox="1"/>
          <p:nvPr/>
        </p:nvSpPr>
        <p:spPr>
          <a:xfrm>
            <a:off x="825500" y="5486400"/>
            <a:ext cx="48260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Administered as SL tablet or film (Suboxone = buprenorphine + naloxone). No special DEA waiver required since 2023</a:t>
            </a:r>
            <a:endParaRPr/>
          </a:p>
        </p:txBody>
      </p:sp>
      <p:sp>
        <p:nvSpPr>
          <p:cNvPr id="50" name="RightCardBg"/>
          <p:cNvSpPr/>
          <p:nvPr/>
        </p:nvSpPr>
        <p:spPr>
          <a:xfrm>
            <a:off x="6223000" y="1905000"/>
            <a:ext cx="5397500" cy="44450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1" name="RightHeader"/>
          <p:cNvSpPr txBox="1"/>
          <p:nvPr/>
        </p:nvSpPr>
        <p:spPr>
          <a:xfrm>
            <a:off x="6477000" y="2095500"/>
            <a:ext cx="48895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6B6D4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Why It Matters in the ED</a:t>
            </a:r>
            <a:endParaRPr/>
          </a:p>
        </p:txBody>
      </p:sp>
      <p:sp>
        <p:nvSpPr>
          <p:cNvPr id="60" name="Check0"/>
          <p:cNvSpPr txBox="1"/>
          <p:nvPr/>
        </p:nvSpPr>
        <p:spPr>
          <a:xfrm>
            <a:off x="6477000" y="2667000"/>
            <a:ext cx="254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6B6D4"/>
                </a:solidFill>
                <a:latin typeface="Inter"/>
                <a:ea typeface="Inter"/>
                <a:cs typeface="Inter"/>
                <a:sym typeface="Inter"/>
              </a:rPr>
              <a:t>✓</a:t>
            </a:r>
            <a:endParaRPr/>
          </a:p>
        </p:txBody>
      </p:sp>
      <p:sp>
        <p:nvSpPr>
          <p:cNvPr id="70" name="Point0"/>
          <p:cNvSpPr txBox="1"/>
          <p:nvPr/>
        </p:nvSpPr>
        <p:spPr>
          <a:xfrm>
            <a:off x="6794500" y="2667000"/>
            <a:ext cx="4635500" cy="698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Safe to initiate in the ED — ceiling effect means low overdose risk even with imprecise dosing</a:t>
            </a:r>
            <a:endParaRPr/>
          </a:p>
        </p:txBody>
      </p:sp>
      <p:sp>
        <p:nvSpPr>
          <p:cNvPr id="61" name="Check1"/>
          <p:cNvSpPr txBox="1"/>
          <p:nvPr/>
        </p:nvSpPr>
        <p:spPr>
          <a:xfrm>
            <a:off x="6477000" y="3492500"/>
            <a:ext cx="254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6B6D4"/>
                </a:solidFill>
                <a:latin typeface="Inter"/>
                <a:ea typeface="Inter"/>
                <a:cs typeface="Inter"/>
                <a:sym typeface="Inter"/>
              </a:rPr>
              <a:t>✓</a:t>
            </a:r>
            <a:endParaRPr/>
          </a:p>
        </p:txBody>
      </p:sp>
      <p:sp>
        <p:nvSpPr>
          <p:cNvPr id="71" name="Point1"/>
          <p:cNvSpPr txBox="1"/>
          <p:nvPr/>
        </p:nvSpPr>
        <p:spPr>
          <a:xfrm>
            <a:off x="6794500" y="3492500"/>
            <a:ext cx="4635500" cy="698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High receptor affinity displaces other opioids, which is therapeutic but can precipitate withdrawal if timed incorrectly</a:t>
            </a:r>
            <a:endParaRPr/>
          </a:p>
        </p:txBody>
      </p:sp>
      <p:sp>
        <p:nvSpPr>
          <p:cNvPr id="62" name="Check2"/>
          <p:cNvSpPr txBox="1"/>
          <p:nvPr/>
        </p:nvSpPr>
        <p:spPr>
          <a:xfrm>
            <a:off x="6477000" y="4318000"/>
            <a:ext cx="254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6B6D4"/>
                </a:solidFill>
                <a:latin typeface="Inter"/>
                <a:ea typeface="Inter"/>
                <a:cs typeface="Inter"/>
                <a:sym typeface="Inter"/>
              </a:rPr>
              <a:t>✓</a:t>
            </a:r>
            <a:endParaRPr/>
          </a:p>
        </p:txBody>
      </p:sp>
      <p:sp>
        <p:nvSpPr>
          <p:cNvPr id="72" name="Point2"/>
          <p:cNvSpPr txBox="1"/>
          <p:nvPr/>
        </p:nvSpPr>
        <p:spPr>
          <a:xfrm>
            <a:off x="6794500" y="4318000"/>
            <a:ext cx="4635500" cy="698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Naloxone component deters IV misuse but is clinically inactive when taken sublingually</a:t>
            </a:r>
            <a:endParaRPr/>
          </a:p>
        </p:txBody>
      </p:sp>
      <p:sp>
        <p:nvSpPr>
          <p:cNvPr id="63" name="Check3"/>
          <p:cNvSpPr txBox="1"/>
          <p:nvPr/>
        </p:nvSpPr>
        <p:spPr>
          <a:xfrm>
            <a:off x="6477000" y="5143500"/>
            <a:ext cx="254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6B6D4"/>
                </a:solidFill>
                <a:latin typeface="Inter"/>
                <a:ea typeface="Inter"/>
                <a:cs typeface="Inter"/>
                <a:sym typeface="Inter"/>
              </a:rPr>
              <a:t>✓</a:t>
            </a:r>
            <a:endParaRPr/>
          </a:p>
        </p:txBody>
      </p:sp>
      <p:sp>
        <p:nvSpPr>
          <p:cNvPr id="73" name="Point3"/>
          <p:cNvSpPr txBox="1"/>
          <p:nvPr/>
        </p:nvSpPr>
        <p:spPr>
          <a:xfrm>
            <a:off x="6794500" y="5143500"/>
            <a:ext cx="4635500" cy="698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X-waiver eliminated (Jan 2023) — any provider with a DEA license can prescribe</a:t>
            </a:r>
            <a:endParaRPr/>
          </a:p>
        </p:txBody>
      </p:sp>
      <p:sp>
        <p:nvSpPr>
          <p:cNvPr id="80" name="BottomNote"/>
          <p:cNvSpPr txBox="1"/>
          <p:nvPr/>
        </p:nvSpPr>
        <p:spPr>
          <a:xfrm>
            <a:off x="6477000" y="6032500"/>
            <a:ext cx="48895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1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Next: How buprenorphine compares to methadone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08751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733550"/>
            <a:ext cx="5286375" cy="443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733550"/>
            <a:ext cx="5286375" cy="443865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6"/>
          <p:cNvSpPr txBox="1"/>
          <p:nvPr/>
        </p:nvSpPr>
        <p:spPr>
          <a:xfrm>
            <a:off x="914400" y="2076450"/>
            <a:ext cx="4830603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6B6D4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Buprenorphine (Partial Agonist)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6677025" y="2076450"/>
            <a:ext cx="4830603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EF4444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Methadone (Full Agonist)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1485900" y="2552700"/>
            <a:ext cx="40290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High Affinity: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Outcompetes nearly all other opioids at the receptor.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1485900" y="3295650"/>
            <a:ext cx="4029075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Ceiling Effect: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Activation plateaus at 40-50%, providing a massive safety margin against respiratory depression.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1485900" y="4324350"/>
            <a:ext cx="40290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Blockade Effect: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Pharmacological shield against illicit full agonists.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1485900" y="5067300"/>
            <a:ext cx="40290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Can be initiated and directly prescribed from the ED.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7248525" y="2552700"/>
            <a:ext cx="4029075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No Ceiling Effect: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Linear dose-response increases the risk of respiratory depression and overdose.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7248525" y="3581400"/>
            <a:ext cx="40290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Highly Regulated: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Cannot be prescribed from the ED for OUD.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7248525" y="4324350"/>
            <a:ext cx="40290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Requires specialized Opioid Treatment Program (OTP) enrollment for daily dosing.</a:t>
            </a:r>
            <a:endParaRPr/>
          </a:p>
        </p:txBody>
      </p:sp>
      <p:pic>
        <p:nvPicPr>
          <p:cNvPr id="146" name="Google Shape;146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52525" y="258603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152525" y="3328987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152525" y="435768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52525" y="5100637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6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915150" y="258603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6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915150" y="3614737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6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915150" y="4357687"/>
            <a:ext cx="14287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6"/>
          <p:cNvSpPr txBox="1"/>
          <p:nvPr/>
        </p:nvSpPr>
        <p:spPr>
          <a:xfrm>
            <a:off x="571500" y="476250"/>
            <a:ext cx="116014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Buprenorphine vs. Methadone</a:t>
            </a:r>
            <a:endParaRPr dirty="0"/>
          </a:p>
        </p:txBody>
      </p:sp>
      <p:sp>
        <p:nvSpPr>
          <p:cNvPr id="154" name="Google Shape;154;p16"/>
          <p:cNvSpPr/>
          <p:nvPr/>
        </p:nvSpPr>
        <p:spPr>
          <a:xfrm>
            <a:off x="571500" y="1123950"/>
            <a:ext cx="1104900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/>
          <p:cNvSpPr/>
          <p:nvPr/>
        </p:nvSpPr>
        <p:spPr>
          <a:xfrm>
            <a:off x="1524000" y="3771900"/>
            <a:ext cx="914400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7"/>
          <p:cNvSpPr txBox="1"/>
          <p:nvPr/>
        </p:nvSpPr>
        <p:spPr>
          <a:xfrm>
            <a:off x="2390536" y="3052762"/>
            <a:ext cx="7410926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5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Assessment &amp; Pre-Induction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3495675" y="3937000"/>
            <a:ext cx="52006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Understanding Pathophysiology and Clinical Assessment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2241962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8"/>
          <p:cNvSpPr txBox="1"/>
          <p:nvPr/>
        </p:nvSpPr>
        <p:spPr>
          <a:xfrm>
            <a:off x="571500" y="2447925"/>
            <a:ext cx="5550693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0B98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What It Looks Like (The "Crash")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571500" y="2924175"/>
            <a:ext cx="52863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Unoccupied receptors put the body into massive overdrive.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6334125" y="2447925"/>
            <a:ext cx="5550693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0B98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Practical Withdrawal Windows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904875" y="3638550"/>
            <a:ext cx="4953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Physical Distress: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Racing heart, high BP, sweating, goosebumps, vomiting, diarrhea.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904875" y="4381500"/>
            <a:ext cx="4953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Mental Distress: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Severe anxiety, dysphoria, anhedonia, intense cravings.</a:t>
            </a:r>
            <a:endParaRPr/>
          </a:p>
        </p:txBody>
      </p:sp>
      <p:sp>
        <p:nvSpPr>
          <p:cNvPr id="173" name="Google Shape;173;p18"/>
          <p:cNvSpPr txBox="1"/>
          <p:nvPr/>
        </p:nvSpPr>
        <p:spPr>
          <a:xfrm>
            <a:off x="6667500" y="2924175"/>
            <a:ext cx="4953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Short-Acting (Heroin, Oxycodone):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Onset starts in 8–24 hours | Peaks at 36–72 hours.</a:t>
            </a:r>
            <a:endParaRPr/>
          </a:p>
        </p:txBody>
      </p:sp>
      <p:sp>
        <p:nvSpPr>
          <p:cNvPr id="174" name="Google Shape;174;p18"/>
          <p:cNvSpPr txBox="1"/>
          <p:nvPr/>
        </p:nvSpPr>
        <p:spPr>
          <a:xfrm>
            <a:off x="6667500" y="3667125"/>
            <a:ext cx="4953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Long-Acting (Methadone):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Onset starts in 36–48 hours | Peaks at 72–96 hours.</a:t>
            </a:r>
            <a:endParaRPr/>
          </a:p>
        </p:txBody>
      </p:sp>
      <p:sp>
        <p:nvSpPr>
          <p:cNvPr id="175" name="Google Shape;175;p18"/>
          <p:cNvSpPr txBox="1"/>
          <p:nvPr/>
        </p:nvSpPr>
        <p:spPr>
          <a:xfrm>
            <a:off x="6667500" y="4410075"/>
            <a:ext cx="49530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The Fentanyl Wildcard: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Highly lipophilic. Timeline is completely unpredictable. Onset can be delayed up to 24+ hours.</a:t>
            </a:r>
            <a:endParaRPr/>
          </a:p>
        </p:txBody>
      </p:sp>
      <p:pic>
        <p:nvPicPr>
          <p:cNvPr id="176" name="Google Shape;176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67188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41483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34125" y="295751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34125" y="3700462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334125" y="4443412"/>
            <a:ext cx="21907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8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Recognizing Withdrawal &amp; Expected Timelines</a:t>
            </a:r>
            <a:endParaRPr/>
          </a:p>
        </p:txBody>
      </p:sp>
      <p:sp>
        <p:nvSpPr>
          <p:cNvPr id="182" name="Google Shape;182;p18"/>
          <p:cNvSpPr/>
          <p:nvPr/>
        </p:nvSpPr>
        <p:spPr>
          <a:xfrm>
            <a:off x="571500" y="1123950"/>
            <a:ext cx="1104900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76487"/>
            <a:ext cx="3492549" cy="3152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376487"/>
            <a:ext cx="3492549" cy="3152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376487"/>
            <a:ext cx="3492549" cy="3152775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9"/>
          <p:cNvSpPr txBox="1"/>
          <p:nvPr/>
        </p:nvSpPr>
        <p:spPr>
          <a:xfrm>
            <a:off x="866775" y="3328987"/>
            <a:ext cx="3047099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6B6D4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1. COWS Score</a:t>
            </a:r>
            <a:endParaRPr/>
          </a:p>
        </p:txBody>
      </p:sp>
      <p:sp>
        <p:nvSpPr>
          <p:cNvPr id="192" name="Google Shape;192;p19"/>
          <p:cNvSpPr txBox="1"/>
          <p:nvPr/>
        </p:nvSpPr>
        <p:spPr>
          <a:xfrm>
            <a:off x="866775" y="3805237"/>
            <a:ext cx="2901999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Must be </a:t>
            </a: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≥ 8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(ideally &gt; 12) to avoid precipitated withdrawal. 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06B6D4"/>
                </a:solidFill>
                <a:latin typeface="Inter"/>
                <a:ea typeface="Inter"/>
                <a:cs typeface="Inter"/>
                <a:sym typeface="Inter"/>
              </a:rPr>
              <a:t>Must reassess COWS prior to each dose.</a:t>
            </a:r>
            <a:endParaRPr/>
          </a:p>
        </p:txBody>
      </p:sp>
      <p:sp>
        <p:nvSpPr>
          <p:cNvPr id="193" name="Google Shape;193;p19"/>
          <p:cNvSpPr txBox="1"/>
          <p:nvPr/>
        </p:nvSpPr>
        <p:spPr>
          <a:xfrm>
            <a:off x="4645074" y="3328987"/>
            <a:ext cx="3047099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6B6D4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2. Objective Signs</a:t>
            </a:r>
            <a:endParaRPr/>
          </a:p>
        </p:txBody>
      </p:sp>
      <p:sp>
        <p:nvSpPr>
          <p:cNvPr id="194" name="Google Shape;194;p19"/>
          <p:cNvSpPr txBox="1"/>
          <p:nvPr/>
        </p:nvSpPr>
        <p:spPr>
          <a:xfrm>
            <a:off x="4645074" y="3805237"/>
            <a:ext cx="2901999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Subjective pain is not enough. Must have at least </a:t>
            </a: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2 objective signs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(e.g., pupil dilation, yawning, diaphoresis, piloerection, tachycardia).</a:t>
            </a:r>
            <a:endParaRPr/>
          </a:p>
        </p:txBody>
      </p:sp>
      <p:sp>
        <p:nvSpPr>
          <p:cNvPr id="195" name="Google Shape;195;p19"/>
          <p:cNvSpPr txBox="1"/>
          <p:nvPr/>
        </p:nvSpPr>
        <p:spPr>
          <a:xfrm>
            <a:off x="8423374" y="3328987"/>
            <a:ext cx="3047099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6B6D4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3. Patient Consent</a:t>
            </a:r>
            <a:endParaRPr/>
          </a:p>
        </p:txBody>
      </p:sp>
      <p:sp>
        <p:nvSpPr>
          <p:cNvPr id="196" name="Google Shape;196;p19"/>
          <p:cNvSpPr txBox="1"/>
          <p:nvPr/>
        </p:nvSpPr>
        <p:spPr>
          <a:xfrm>
            <a:off x="8423374" y="3805237"/>
            <a:ext cx="2901999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Patient must understand the induction process, the risks of precipitated withdrawal, and commit to the clinical protocol.</a:t>
            </a:r>
            <a:endParaRPr/>
          </a:p>
        </p:txBody>
      </p:sp>
      <p:pic>
        <p:nvPicPr>
          <p:cNvPr id="197" name="Google Shape;197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6775" y="2709862"/>
            <a:ext cx="2857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45074" y="2709862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1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23374" y="2709862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9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Clinical Assessment: Pre-Induction Checklist</a:t>
            </a:r>
            <a:endParaRPr/>
          </a:p>
        </p:txBody>
      </p:sp>
      <p:sp>
        <p:nvSpPr>
          <p:cNvPr id="201" name="Google Shape;201;p19"/>
          <p:cNvSpPr/>
          <p:nvPr/>
        </p:nvSpPr>
        <p:spPr>
          <a:xfrm>
            <a:off x="571500" y="1123950"/>
            <a:ext cx="1104900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pied Picture 2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itle"/>
          <p:cNvSpPr txBox="1"/>
          <p:nvPr/>
        </p:nvSpPr>
        <p:spPr>
          <a:xfrm>
            <a:off x="571500" y="482600"/>
            <a:ext cx="11607800" cy="520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COWS Score Reference</a:t>
            </a:r>
            <a:endParaRPr/>
          </a:p>
        </p:txBody>
      </p:sp>
      <p:sp>
        <p:nvSpPr>
          <p:cNvPr id="11" name="Rule"/>
          <p:cNvSpPr/>
          <p:nvPr/>
        </p:nvSpPr>
        <p:spPr>
          <a:xfrm>
            <a:off x="571500" y="1130300"/>
            <a:ext cx="11049000" cy="254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Subtitle"/>
          <p:cNvSpPr txBox="1"/>
          <p:nvPr/>
        </p:nvSpPr>
        <p:spPr>
          <a:xfrm>
            <a:off x="571500" y="1371600"/>
            <a:ext cx="11049000" cy="317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Clinical Opiate Withdrawal Scale — the objective tool that guides induction timing</a:t>
            </a:r>
            <a:endParaRPr/>
          </a:p>
        </p:txBody>
      </p:sp>
      <p:sp>
        <p:nvSpPr>
          <p:cNvPr id="20" name="TierBg20"/>
          <p:cNvSpPr/>
          <p:nvPr/>
        </p:nvSpPr>
        <p:spPr>
          <a:xfrm>
            <a:off x="571500" y="1905000"/>
            <a:ext cx="6350000" cy="10160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TierAccent20"/>
          <p:cNvSpPr/>
          <p:nvPr/>
        </p:nvSpPr>
        <p:spPr>
          <a:xfrm>
            <a:off x="571500" y="1955800"/>
            <a:ext cx="63500" cy="9144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TierScore20"/>
          <p:cNvSpPr txBox="1"/>
          <p:nvPr/>
        </p:nvSpPr>
        <p:spPr>
          <a:xfrm>
            <a:off x="787400" y="2006600"/>
            <a:ext cx="825500" cy="444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22C55E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5–8</a:t>
            </a:r>
            <a:endParaRPr/>
          </a:p>
        </p:txBody>
      </p:sp>
      <p:sp>
        <p:nvSpPr>
          <p:cNvPr id="23" name="TierLabel20"/>
          <p:cNvSpPr txBox="1"/>
          <p:nvPr/>
        </p:nvSpPr>
        <p:spPr>
          <a:xfrm>
            <a:off x="1714500" y="2006600"/>
            <a:ext cx="5080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F8FAFC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Mild</a:t>
            </a:r>
          </a:p>
        </p:txBody>
      </p:sp>
      <p:sp>
        <p:nvSpPr>
          <p:cNvPr id="24" name="TierDesc20"/>
          <p:cNvSpPr txBox="1"/>
          <p:nvPr/>
        </p:nvSpPr>
        <p:spPr>
          <a:xfrm>
            <a:off x="1714500" y="23114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Lacrimation, rhinorrhea, mild anxiety, yawning</a:t>
            </a:r>
            <a:endParaRPr/>
          </a:p>
        </p:txBody>
      </p:sp>
      <p:sp>
        <p:nvSpPr>
          <p:cNvPr id="25" name="TierAction20"/>
          <p:cNvSpPr txBox="1"/>
          <p:nvPr/>
        </p:nvSpPr>
        <p:spPr>
          <a:xfrm>
            <a:off x="1714500" y="2565400"/>
            <a:ext cx="5080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2C55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→ Monitor — not yet ready for induction</a:t>
            </a:r>
            <a:endParaRPr/>
          </a:p>
        </p:txBody>
      </p:sp>
      <p:sp>
        <p:nvSpPr>
          <p:cNvPr id="30" name="TierBg30"/>
          <p:cNvSpPr/>
          <p:nvPr/>
        </p:nvSpPr>
        <p:spPr>
          <a:xfrm>
            <a:off x="571500" y="3048000"/>
            <a:ext cx="6350000" cy="10160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" name="TierAccent30"/>
          <p:cNvSpPr/>
          <p:nvPr/>
        </p:nvSpPr>
        <p:spPr>
          <a:xfrm>
            <a:off x="571500" y="3098800"/>
            <a:ext cx="63500" cy="91440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2" name="TierScore30"/>
          <p:cNvSpPr txBox="1"/>
          <p:nvPr/>
        </p:nvSpPr>
        <p:spPr>
          <a:xfrm>
            <a:off x="787400" y="3149600"/>
            <a:ext cx="825500" cy="444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EAB308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9–12</a:t>
            </a:r>
            <a:endParaRPr/>
          </a:p>
        </p:txBody>
      </p:sp>
      <p:sp>
        <p:nvSpPr>
          <p:cNvPr id="33" name="TierLabel30"/>
          <p:cNvSpPr txBox="1"/>
          <p:nvPr/>
        </p:nvSpPr>
        <p:spPr>
          <a:xfrm>
            <a:off x="1714500" y="3149600"/>
            <a:ext cx="5080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F8FAFC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Moderate</a:t>
            </a:r>
          </a:p>
        </p:txBody>
      </p:sp>
      <p:sp>
        <p:nvSpPr>
          <p:cNvPr id="34" name="TierDesc30"/>
          <p:cNvSpPr txBox="1"/>
          <p:nvPr/>
        </p:nvSpPr>
        <p:spPr>
          <a:xfrm>
            <a:off x="1714500" y="34544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Dilated pupils, piloerection, restlessness, muscle aches</a:t>
            </a:r>
            <a:endParaRPr/>
          </a:p>
        </p:txBody>
      </p:sp>
      <p:sp>
        <p:nvSpPr>
          <p:cNvPr id="35" name="TierAction30"/>
          <p:cNvSpPr txBox="1"/>
          <p:nvPr/>
        </p:nvSpPr>
        <p:spPr>
          <a:xfrm>
            <a:off x="1714500" y="3708400"/>
            <a:ext cx="5080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EAB30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→ Approaching threshold — prepare for induction</a:t>
            </a:r>
            <a:endParaRPr/>
          </a:p>
        </p:txBody>
      </p:sp>
      <p:sp>
        <p:nvSpPr>
          <p:cNvPr id="40" name="TierBg40"/>
          <p:cNvSpPr/>
          <p:nvPr/>
        </p:nvSpPr>
        <p:spPr>
          <a:xfrm>
            <a:off x="571500" y="4191000"/>
            <a:ext cx="6350000" cy="10160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1" name="TierAccent40"/>
          <p:cNvSpPr/>
          <p:nvPr/>
        </p:nvSpPr>
        <p:spPr>
          <a:xfrm>
            <a:off x="571500" y="4241800"/>
            <a:ext cx="63500" cy="9144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2" name="TierScore40"/>
          <p:cNvSpPr txBox="1"/>
          <p:nvPr/>
        </p:nvSpPr>
        <p:spPr>
          <a:xfrm>
            <a:off x="787400" y="4292600"/>
            <a:ext cx="825500" cy="444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F97316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13–24</a:t>
            </a:r>
            <a:endParaRPr/>
          </a:p>
        </p:txBody>
      </p:sp>
      <p:sp>
        <p:nvSpPr>
          <p:cNvPr id="43" name="TierLabel40"/>
          <p:cNvSpPr txBox="1"/>
          <p:nvPr/>
        </p:nvSpPr>
        <p:spPr>
          <a:xfrm>
            <a:off x="1714500" y="4292600"/>
            <a:ext cx="5080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F8FAFC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Moderate–Severe</a:t>
            </a:r>
          </a:p>
        </p:txBody>
      </p:sp>
      <p:sp>
        <p:nvSpPr>
          <p:cNvPr id="44" name="TierDesc40"/>
          <p:cNvSpPr txBox="1"/>
          <p:nvPr/>
        </p:nvSpPr>
        <p:spPr>
          <a:xfrm>
            <a:off x="1714500" y="45974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GI distress, tremor, diaphoresis, elevated vitals</a:t>
            </a:r>
            <a:endParaRPr/>
          </a:p>
        </p:txBody>
      </p:sp>
      <p:sp>
        <p:nvSpPr>
          <p:cNvPr id="45" name="TierAction40"/>
          <p:cNvSpPr txBox="1"/>
          <p:nvPr/>
        </p:nvSpPr>
        <p:spPr>
          <a:xfrm>
            <a:off x="1714500" y="4851400"/>
            <a:ext cx="5080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9731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→ Induction threshold — proceed with dosing</a:t>
            </a:r>
            <a:endParaRPr/>
          </a:p>
        </p:txBody>
      </p:sp>
      <p:sp>
        <p:nvSpPr>
          <p:cNvPr id="50" name="TierBg50"/>
          <p:cNvSpPr/>
          <p:nvPr/>
        </p:nvSpPr>
        <p:spPr>
          <a:xfrm>
            <a:off x="571500" y="5334000"/>
            <a:ext cx="6350000" cy="10160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1" name="TierAccent50"/>
          <p:cNvSpPr/>
          <p:nvPr/>
        </p:nvSpPr>
        <p:spPr>
          <a:xfrm>
            <a:off x="571500" y="5384800"/>
            <a:ext cx="63500" cy="9144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2" name="TierScore50"/>
          <p:cNvSpPr txBox="1"/>
          <p:nvPr/>
        </p:nvSpPr>
        <p:spPr>
          <a:xfrm>
            <a:off x="787400" y="5435600"/>
            <a:ext cx="825500" cy="444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EF4444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25–48</a:t>
            </a:r>
            <a:endParaRPr/>
          </a:p>
        </p:txBody>
      </p:sp>
      <p:sp>
        <p:nvSpPr>
          <p:cNvPr id="53" name="TierLabel50"/>
          <p:cNvSpPr txBox="1"/>
          <p:nvPr/>
        </p:nvSpPr>
        <p:spPr>
          <a:xfrm>
            <a:off x="1714500" y="5435600"/>
            <a:ext cx="5080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F8FAFC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Severe</a:t>
            </a:r>
          </a:p>
        </p:txBody>
      </p:sp>
      <p:sp>
        <p:nvSpPr>
          <p:cNvPr id="54" name="TierDesc50"/>
          <p:cNvSpPr txBox="1"/>
          <p:nvPr/>
        </p:nvSpPr>
        <p:spPr>
          <a:xfrm>
            <a:off x="1714500" y="57404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Fever, emesis, diarrhea, tachycardia, severe distress</a:t>
            </a:r>
            <a:endParaRPr/>
          </a:p>
        </p:txBody>
      </p:sp>
      <p:sp>
        <p:nvSpPr>
          <p:cNvPr id="55" name="TierAction50"/>
          <p:cNvSpPr txBox="1"/>
          <p:nvPr/>
        </p:nvSpPr>
        <p:spPr>
          <a:xfrm>
            <a:off x="1714500" y="5994400"/>
            <a:ext cx="5080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EF444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→ Urgent — initiate buprenorphine immediately</a:t>
            </a:r>
            <a:endParaRPr/>
          </a:p>
        </p:txBody>
      </p:sp>
      <p:sp>
        <p:nvSpPr>
          <p:cNvPr id="70" name="RightBg"/>
          <p:cNvSpPr/>
          <p:nvPr/>
        </p:nvSpPr>
        <p:spPr>
          <a:xfrm>
            <a:off x="7175500" y="1905000"/>
            <a:ext cx="4445000" cy="44450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1" name="RightHeader"/>
          <p:cNvSpPr txBox="1"/>
          <p:nvPr/>
        </p:nvSpPr>
        <p:spPr>
          <a:xfrm>
            <a:off x="7429500" y="2095500"/>
            <a:ext cx="393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6B6D4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Clinical Pearls</a:t>
            </a:r>
            <a:endParaRPr/>
          </a:p>
        </p:txBody>
      </p:sp>
      <p:sp>
        <p:nvSpPr>
          <p:cNvPr id="80" name="PearlDot0"/>
          <p:cNvSpPr txBox="1"/>
          <p:nvPr/>
        </p:nvSpPr>
        <p:spPr>
          <a:xfrm>
            <a:off x="7429500" y="2628900"/>
            <a:ext cx="1778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06B6D4"/>
                </a:solidFill>
                <a:latin typeface="Inter"/>
                <a:ea typeface="Inter"/>
              </a:rPr>
              <a:t>●</a:t>
            </a:r>
            <a:endParaRPr/>
          </a:p>
        </p:txBody>
      </p:sp>
      <p:sp>
        <p:nvSpPr>
          <p:cNvPr id="90" name="Pearl0"/>
          <p:cNvSpPr txBox="1"/>
          <p:nvPr/>
        </p:nvSpPr>
        <p:spPr>
          <a:xfrm>
            <a:off x="7683500" y="2603500"/>
            <a:ext cx="37465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Score &gt;12 is the traditional induction threshold — but clinical judgment matters more than any single number</a:t>
            </a:r>
            <a:endParaRPr dirty="0"/>
          </a:p>
        </p:txBody>
      </p:sp>
      <p:sp>
        <p:nvSpPr>
          <p:cNvPr id="81" name="PearlDot1"/>
          <p:cNvSpPr txBox="1"/>
          <p:nvPr/>
        </p:nvSpPr>
        <p:spPr>
          <a:xfrm>
            <a:off x="7429500" y="3492500"/>
            <a:ext cx="1778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06B6D4"/>
                </a:solidFill>
                <a:latin typeface="Inter"/>
                <a:ea typeface="Inter"/>
              </a:rPr>
              <a:t>●</a:t>
            </a:r>
            <a:endParaRPr/>
          </a:p>
        </p:txBody>
      </p:sp>
      <p:sp>
        <p:nvSpPr>
          <p:cNvPr id="91" name="Pearl1"/>
          <p:cNvSpPr txBox="1"/>
          <p:nvPr/>
        </p:nvSpPr>
        <p:spPr>
          <a:xfrm>
            <a:off x="7683500" y="3467100"/>
            <a:ext cx="37465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With fentanyl, patients may score high on COWS yet still have depot opioid on board — precipitated withdrawal risk persists</a:t>
            </a:r>
            <a:endParaRPr/>
          </a:p>
        </p:txBody>
      </p:sp>
      <p:sp>
        <p:nvSpPr>
          <p:cNvPr id="82" name="PearlDot2"/>
          <p:cNvSpPr txBox="1"/>
          <p:nvPr/>
        </p:nvSpPr>
        <p:spPr>
          <a:xfrm>
            <a:off x="7429500" y="4356100"/>
            <a:ext cx="1778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06B6D4"/>
                </a:solidFill>
                <a:latin typeface="Inter"/>
                <a:ea typeface="Inter"/>
              </a:rPr>
              <a:t>●</a:t>
            </a:r>
            <a:endParaRPr/>
          </a:p>
        </p:txBody>
      </p:sp>
      <p:sp>
        <p:nvSpPr>
          <p:cNvPr id="92" name="Pearl2"/>
          <p:cNvSpPr txBox="1"/>
          <p:nvPr/>
        </p:nvSpPr>
        <p:spPr>
          <a:xfrm>
            <a:off x="7683500" y="4330700"/>
            <a:ext cx="37465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Reassess every 30–60 min during the observation period; a rising score confirms progressive withdrawal</a:t>
            </a:r>
            <a:endParaRPr/>
          </a:p>
        </p:txBody>
      </p:sp>
      <p:sp>
        <p:nvSpPr>
          <p:cNvPr id="83" name="PearlDot3"/>
          <p:cNvSpPr txBox="1"/>
          <p:nvPr/>
        </p:nvSpPr>
        <p:spPr>
          <a:xfrm>
            <a:off x="7429500" y="5219700"/>
            <a:ext cx="1778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06B6D4"/>
                </a:solidFill>
                <a:latin typeface="Inter"/>
                <a:ea typeface="Inter"/>
              </a:rPr>
              <a:t>●</a:t>
            </a:r>
            <a:endParaRPr/>
          </a:p>
        </p:txBody>
      </p:sp>
      <p:sp>
        <p:nvSpPr>
          <p:cNvPr id="93" name="Pearl3"/>
          <p:cNvSpPr txBox="1"/>
          <p:nvPr/>
        </p:nvSpPr>
        <p:spPr>
          <a:xfrm>
            <a:off x="7683500" y="5194300"/>
            <a:ext cx="37465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COWS is not validated for neonates or sedated patients — use alternate tools (e.g., Finnegan for neonates)</a:t>
            </a:r>
            <a:endParaRPr/>
          </a:p>
        </p:txBody>
      </p:sp>
      <p:sp>
        <p:nvSpPr>
          <p:cNvPr id="99" name="SourceNote"/>
          <p:cNvSpPr txBox="1"/>
          <p:nvPr/>
        </p:nvSpPr>
        <p:spPr>
          <a:xfrm>
            <a:off x="571500" y="6477000"/>
            <a:ext cx="11049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1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Wesson DR, Ling W. Clinical Opiate Withdrawal Scale (COWS). J Psychoactive Drugs. 2003;35(2):253–259.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8892367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9" name="Google Shape;319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552575"/>
            <a:ext cx="5286375" cy="2305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552575"/>
            <a:ext cx="5286375" cy="2305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2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333875"/>
            <a:ext cx="5286375" cy="201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2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34125" y="4333875"/>
            <a:ext cx="5286375" cy="2019300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26"/>
          <p:cNvSpPr txBox="1"/>
          <p:nvPr/>
        </p:nvSpPr>
        <p:spPr>
          <a:xfrm>
            <a:off x="914400" y="1895475"/>
            <a:ext cx="4830603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6B6D4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Methadone Maintenance</a:t>
            </a:r>
            <a:endParaRPr/>
          </a:p>
        </p:txBody>
      </p:sp>
      <p:sp>
        <p:nvSpPr>
          <p:cNvPr id="325" name="Google Shape;325;p26"/>
          <p:cNvSpPr txBox="1"/>
          <p:nvPr/>
        </p:nvSpPr>
        <p:spPr>
          <a:xfrm>
            <a:off x="914400" y="2371725"/>
            <a:ext cx="4600575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Wait ≥ 48-72 hrs. Consider alternative medical management or specific micro-induction protocols. High risk of prolonged precipitated withdrawal.</a:t>
            </a:r>
            <a:endParaRPr/>
          </a:p>
        </p:txBody>
      </p:sp>
      <p:sp>
        <p:nvSpPr>
          <p:cNvPr id="326" name="Google Shape;326;p26"/>
          <p:cNvSpPr txBox="1"/>
          <p:nvPr/>
        </p:nvSpPr>
        <p:spPr>
          <a:xfrm>
            <a:off x="6677025" y="1895475"/>
            <a:ext cx="4830603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6B6D4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Severe Acute Pain / Trauma</a:t>
            </a:r>
            <a:endParaRPr/>
          </a:p>
        </p:txBody>
      </p:sp>
      <p:sp>
        <p:nvSpPr>
          <p:cNvPr id="327" name="Google Shape;327;p26"/>
          <p:cNvSpPr txBox="1"/>
          <p:nvPr/>
        </p:nvSpPr>
        <p:spPr>
          <a:xfrm>
            <a:off x="6677025" y="2371725"/>
            <a:ext cx="4600575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Buprenorphine treats pain, but major trauma may require full agonists to override. Requires careful co-management with surgery/anesthesia.</a:t>
            </a:r>
            <a:endParaRPr/>
          </a:p>
        </p:txBody>
      </p:sp>
      <p:sp>
        <p:nvSpPr>
          <p:cNvPr id="328" name="Google Shape;328;p26"/>
          <p:cNvSpPr txBox="1"/>
          <p:nvPr/>
        </p:nvSpPr>
        <p:spPr>
          <a:xfrm>
            <a:off x="914400" y="4676775"/>
            <a:ext cx="4830603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6B6D4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Altered Mental Status</a:t>
            </a:r>
            <a:endParaRPr/>
          </a:p>
        </p:txBody>
      </p:sp>
      <p:sp>
        <p:nvSpPr>
          <p:cNvPr id="329" name="Google Shape;329;p26"/>
          <p:cNvSpPr txBox="1"/>
          <p:nvPr/>
        </p:nvSpPr>
        <p:spPr>
          <a:xfrm>
            <a:off x="914400" y="5153025"/>
            <a:ext cx="4600575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High risk for synergistic respiratory depression with alcohol/benzos/xylazine. Delay induction until clinically sober.</a:t>
            </a:r>
            <a:endParaRPr/>
          </a:p>
        </p:txBody>
      </p:sp>
      <p:sp>
        <p:nvSpPr>
          <p:cNvPr id="330" name="Google Shape;330;p26"/>
          <p:cNvSpPr txBox="1"/>
          <p:nvPr/>
        </p:nvSpPr>
        <p:spPr>
          <a:xfrm>
            <a:off x="6677025" y="4676775"/>
            <a:ext cx="4830603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6B6D4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Pregnancy</a:t>
            </a:r>
            <a:endParaRPr/>
          </a:p>
        </p:txBody>
      </p:sp>
      <p:sp>
        <p:nvSpPr>
          <p:cNvPr id="331" name="Google Shape;331;p26"/>
          <p:cNvSpPr txBox="1"/>
          <p:nvPr/>
        </p:nvSpPr>
        <p:spPr>
          <a:xfrm>
            <a:off x="6677025" y="5153025"/>
            <a:ext cx="4600575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Never withhold treatment. Untreated OUD is vastly more dangerous than neonatal withdrawal syndrome. Use Buprenorphine monoproduct.</a:t>
            </a:r>
            <a:endParaRPr/>
          </a:p>
        </p:txBody>
      </p:sp>
      <p:sp>
        <p:nvSpPr>
          <p:cNvPr id="332" name="Google Shape;332;p26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Complicating Factors (Modify or Delay)</a:t>
            </a:r>
            <a:endParaRPr/>
          </a:p>
        </p:txBody>
      </p:sp>
      <p:sp>
        <p:nvSpPr>
          <p:cNvPr id="333" name="Google Shape;333;p26"/>
          <p:cNvSpPr/>
          <p:nvPr/>
        </p:nvSpPr>
        <p:spPr>
          <a:xfrm>
            <a:off x="571500" y="1123950"/>
            <a:ext cx="1104900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/>
          <p:cNvSpPr/>
          <p:nvPr/>
        </p:nvSpPr>
        <p:spPr>
          <a:xfrm>
            <a:off x="1524000" y="4165600"/>
            <a:ext cx="914400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7"/>
          <p:cNvSpPr txBox="1"/>
          <p:nvPr/>
        </p:nvSpPr>
        <p:spPr>
          <a:xfrm>
            <a:off x="191911" y="2794000"/>
            <a:ext cx="11717867" cy="1246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50" b="1" i="0" u="none" strike="noStrike" cap="none" dirty="0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Buprenorphine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50" b="1" i="0" u="none" strike="noStrike" cap="none" dirty="0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Induction, Maintenance &amp; Transition Protocol</a:t>
            </a:r>
            <a:endParaRPr dirty="0"/>
          </a:p>
        </p:txBody>
      </p:sp>
      <p:sp>
        <p:nvSpPr>
          <p:cNvPr id="162" name="Google Shape;162;p17"/>
          <p:cNvSpPr txBox="1"/>
          <p:nvPr/>
        </p:nvSpPr>
        <p:spPr>
          <a:xfrm>
            <a:off x="762000" y="4394200"/>
            <a:ext cx="10668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Clinical guidance for initiating, optimizing, and transitioning patients on buprenorphine therapy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220644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257425"/>
            <a:ext cx="5286375" cy="3914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257425"/>
            <a:ext cx="5286375" cy="3914775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0"/>
          <p:cNvSpPr txBox="1"/>
          <p:nvPr/>
        </p:nvSpPr>
        <p:spPr>
          <a:xfrm>
            <a:off x="914400" y="2628900"/>
            <a:ext cx="4830603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EF4444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Rapid Induction (ED/ICU Pathway)</a:t>
            </a:r>
            <a:endParaRPr/>
          </a:p>
        </p:txBody>
      </p:sp>
      <p:sp>
        <p:nvSpPr>
          <p:cNvPr id="211" name="Google Shape;211;p20"/>
          <p:cNvSpPr txBox="1"/>
          <p:nvPr/>
        </p:nvSpPr>
        <p:spPr>
          <a:xfrm>
            <a:off x="914400" y="3105150"/>
            <a:ext cx="46005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For medically supervised settings with close monitoring.</a:t>
            </a:r>
            <a:endParaRPr/>
          </a:p>
        </p:txBody>
      </p:sp>
      <p:sp>
        <p:nvSpPr>
          <p:cNvPr id="212" name="Google Shape;212;p20"/>
          <p:cNvSpPr txBox="1"/>
          <p:nvPr/>
        </p:nvSpPr>
        <p:spPr>
          <a:xfrm>
            <a:off x="6677025" y="2628900"/>
            <a:ext cx="4830603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0B98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Standard Induction (General Pathway)</a:t>
            </a:r>
            <a:endParaRPr/>
          </a:p>
        </p:txBody>
      </p:sp>
      <p:sp>
        <p:nvSpPr>
          <p:cNvPr id="213" name="Google Shape;213;p20"/>
          <p:cNvSpPr txBox="1"/>
          <p:nvPr/>
        </p:nvSpPr>
        <p:spPr>
          <a:xfrm>
            <a:off x="6677025" y="3438525"/>
            <a:ext cx="46005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For most non-critical care patients.</a:t>
            </a:r>
            <a:endParaRPr/>
          </a:p>
        </p:txBody>
      </p:sp>
      <p:sp>
        <p:nvSpPr>
          <p:cNvPr id="214" name="Google Shape;214;p20"/>
          <p:cNvSpPr txBox="1"/>
          <p:nvPr/>
        </p:nvSpPr>
        <p:spPr>
          <a:xfrm>
            <a:off x="1485900" y="3819525"/>
            <a:ext cx="40290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First Dose: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8 mg Buprenorphine SL.</a:t>
            </a:r>
            <a:endParaRPr/>
          </a:p>
        </p:txBody>
      </p:sp>
      <p:sp>
        <p:nvSpPr>
          <p:cNvPr id="215" name="Google Shape;215;p20"/>
          <p:cNvSpPr txBox="1"/>
          <p:nvPr/>
        </p:nvSpPr>
        <p:spPr>
          <a:xfrm>
            <a:off x="1485900" y="4276725"/>
            <a:ext cx="40290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Reassess: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Wait 60 minutes, re-evaluate COWS.</a:t>
            </a:r>
            <a:endParaRPr/>
          </a:p>
        </p:txBody>
      </p:sp>
      <p:sp>
        <p:nvSpPr>
          <p:cNvPr id="216" name="Google Shape;216;p20"/>
          <p:cNvSpPr txBox="1"/>
          <p:nvPr/>
        </p:nvSpPr>
        <p:spPr>
          <a:xfrm>
            <a:off x="1485900" y="5019675"/>
            <a:ext cx="40290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Subsequent Doses: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8 mg SL PRN until significant relief (COWS ≤ 4).</a:t>
            </a:r>
            <a:endParaRPr/>
          </a:p>
        </p:txBody>
      </p:sp>
      <p:sp>
        <p:nvSpPr>
          <p:cNvPr id="217" name="Google Shape;217;p20"/>
          <p:cNvSpPr txBox="1"/>
          <p:nvPr/>
        </p:nvSpPr>
        <p:spPr>
          <a:xfrm>
            <a:off x="7248525" y="3867150"/>
            <a:ext cx="40290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First Dose: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4 mg Buprenorphine SL.</a:t>
            </a:r>
            <a:endParaRPr/>
          </a:p>
        </p:txBody>
      </p:sp>
      <p:sp>
        <p:nvSpPr>
          <p:cNvPr id="218" name="Google Shape;218;p20"/>
          <p:cNvSpPr txBox="1"/>
          <p:nvPr/>
        </p:nvSpPr>
        <p:spPr>
          <a:xfrm>
            <a:off x="7248525" y="4324350"/>
            <a:ext cx="40290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Reassess: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Wait 60 minutes, re-evaluate COWS.</a:t>
            </a:r>
            <a:endParaRPr/>
          </a:p>
        </p:txBody>
      </p:sp>
      <p:sp>
        <p:nvSpPr>
          <p:cNvPr id="219" name="Google Shape;219;p20"/>
          <p:cNvSpPr txBox="1"/>
          <p:nvPr/>
        </p:nvSpPr>
        <p:spPr>
          <a:xfrm>
            <a:off x="7248525" y="5067300"/>
            <a:ext cx="40290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Subsequent Doses: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4 mg SL PRN until significant relief.</a:t>
            </a:r>
            <a:endParaRPr/>
          </a:p>
        </p:txBody>
      </p:sp>
      <p:pic>
        <p:nvPicPr>
          <p:cNvPr id="220" name="Google Shape;220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52525" y="385286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152525" y="4310062"/>
            <a:ext cx="1428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152525" y="505301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0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915150" y="3900487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915150" y="4357687"/>
            <a:ext cx="1428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915150" y="5100637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0"/>
          <p:cNvSpPr txBox="1"/>
          <p:nvPr/>
        </p:nvSpPr>
        <p:spPr>
          <a:xfrm>
            <a:off x="571500" y="476250"/>
            <a:ext cx="116014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Buprenorphine Induction</a:t>
            </a:r>
            <a:endParaRPr dirty="0"/>
          </a:p>
        </p:txBody>
      </p:sp>
      <p:sp>
        <p:nvSpPr>
          <p:cNvPr id="227" name="Google Shape;227;p20"/>
          <p:cNvSpPr/>
          <p:nvPr/>
        </p:nvSpPr>
        <p:spPr>
          <a:xfrm>
            <a:off x="571500" y="1123950"/>
            <a:ext cx="1104900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alHeader">
            <a:extLst>
              <a:ext uri="{FF2B5EF4-FFF2-40B4-BE49-F238E27FC236}">
                <a16:creationId xmlns:a16="http://schemas.microsoft.com/office/drawing/2014/main" id="{B85CFCA9-60B3-DEDD-E037-C290544B77DE}"/>
              </a:ext>
            </a:extLst>
          </p:cNvPr>
          <p:cNvSpPr txBox="1">
            <a:spLocks noGrp="1"/>
          </p:cNvSpPr>
          <p:nvPr/>
        </p:nvSpPr>
        <p:spPr>
          <a:xfrm>
            <a:off x="571500" y="127000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lIns="73152" tIns="45720" rIns="73152" bIns="45720">
            <a:normAutofit lnSpcReduction="10000"/>
          </a:bodyPr>
          <a:lstStyle/>
          <a:p>
            <a:pPr lvl="0"/>
            <a:r>
              <a:rPr lang="en-US" sz="1500" b="1" i="0" u="none" strike="noStrike" cap="none" dirty="0">
                <a:solidFill>
                  <a:srgbClr val="06B6D4"/>
                </a:solidFill>
                <a:latin typeface="Inter"/>
                <a:ea typeface="Inter"/>
                <a:cs typeface="Inter"/>
                <a:sym typeface="Inter"/>
              </a:rPr>
              <a:t>Goal</a:t>
            </a:r>
            <a:r>
              <a:rPr lang="en-US" sz="1500" b="1" dirty="0">
                <a:solidFill>
                  <a:srgbClr val="06B6D4"/>
                </a:solidFill>
                <a:latin typeface="Inter"/>
                <a:ea typeface="Inter"/>
                <a:cs typeface="Inter"/>
                <a:sym typeface="Inter"/>
              </a:rPr>
              <a:t>: Achieve 16 mg total within the first day.</a:t>
            </a:r>
            <a:endParaRPr dirty="0"/>
          </a:p>
        </p:txBody>
      </p:sp>
      <p:sp>
        <p:nvSpPr>
          <p:cNvPr id="43" name="Intro">
            <a:extLst>
              <a:ext uri="{FF2B5EF4-FFF2-40B4-BE49-F238E27FC236}">
                <a16:creationId xmlns:a16="http://schemas.microsoft.com/office/drawing/2014/main" id="{FD7F75AB-C24A-12E5-2D56-B1298E9EF260}"/>
              </a:ext>
            </a:extLst>
          </p:cNvPr>
          <p:cNvSpPr txBox="1">
            <a:spLocks noGrp="1"/>
          </p:cNvSpPr>
          <p:nvPr/>
        </p:nvSpPr>
        <p:spPr>
          <a:xfrm>
            <a:off x="571500" y="167640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lIns="73152" tIns="45720" rIns="73152" bIns="45720">
            <a:normAutofit fontScale="70000" lnSpcReduction="20000"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Wait for moderate to severe withdrawal before beginning pathway:</a:t>
            </a: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Shape 205">
          <a:extLst>
            <a:ext uri="{FF2B5EF4-FFF2-40B4-BE49-F238E27FC236}">
              <a16:creationId xmlns:a16="http://schemas.microsoft.com/office/drawing/2014/main" id="{F570C93A-14F2-1E14-60B0-C84C1829A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20" descr="image.png">
            <a:extLst>
              <a:ext uri="{FF2B5EF4-FFF2-40B4-BE49-F238E27FC236}">
                <a16:creationId xmlns:a16="http://schemas.microsoft.com/office/drawing/2014/main" id="{BFD52DB0-6B6C-F5A5-3041-78014428892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0">
            <a:extLst>
              <a:ext uri="{FF2B5EF4-FFF2-40B4-BE49-F238E27FC236}">
                <a16:creationId xmlns:a16="http://schemas.microsoft.com/office/drawing/2014/main" id="{2D181A01-CDD3-557F-F4FD-31F63B9B9E7B}"/>
              </a:ext>
            </a:extLst>
          </p:cNvPr>
          <p:cNvSpPr txBox="1"/>
          <p:nvPr/>
        </p:nvSpPr>
        <p:spPr>
          <a:xfrm>
            <a:off x="571500" y="476250"/>
            <a:ext cx="116014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Buprenorphine Maintenance</a:t>
            </a:r>
            <a:endParaRPr dirty="0"/>
          </a:p>
        </p:txBody>
      </p:sp>
      <p:sp>
        <p:nvSpPr>
          <p:cNvPr id="227" name="Google Shape;227;p20">
            <a:extLst>
              <a:ext uri="{FF2B5EF4-FFF2-40B4-BE49-F238E27FC236}">
                <a16:creationId xmlns:a16="http://schemas.microsoft.com/office/drawing/2014/main" id="{44D7BBE3-66F9-34C4-5791-DCA328187DA5}"/>
              </a:ext>
            </a:extLst>
          </p:cNvPr>
          <p:cNvSpPr/>
          <p:nvPr/>
        </p:nvSpPr>
        <p:spPr>
          <a:xfrm>
            <a:off x="571500" y="1123950"/>
            <a:ext cx="1104900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alHeader">
            <a:extLst>
              <a:ext uri="{FF2B5EF4-FFF2-40B4-BE49-F238E27FC236}">
                <a16:creationId xmlns:a16="http://schemas.microsoft.com/office/drawing/2014/main" id="{D00A9B5C-9EBE-0D68-BA76-B4F9505BF317}"/>
              </a:ext>
            </a:extLst>
          </p:cNvPr>
          <p:cNvSpPr txBox="1">
            <a:spLocks noGrp="1"/>
          </p:cNvSpPr>
          <p:nvPr/>
        </p:nvSpPr>
        <p:spPr>
          <a:xfrm>
            <a:off x="571500" y="127000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lIns="73152" tIns="45720" rIns="73152" bIns="45720">
            <a:normAutofit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06B6D4"/>
                </a:solidFill>
                <a:latin typeface="Inter"/>
                <a:ea typeface="Inter"/>
                <a:cs typeface="Inter"/>
                <a:sym typeface="Inter"/>
              </a:rPr>
              <a:t>Goal: Continue at least 16 mg buprenorphine for maintenance of therapy.</a:t>
            </a:r>
            <a:endParaRPr dirty="0"/>
          </a:p>
        </p:txBody>
      </p:sp>
      <p:sp>
        <p:nvSpPr>
          <p:cNvPr id="3" name="Intro">
            <a:extLst>
              <a:ext uri="{FF2B5EF4-FFF2-40B4-BE49-F238E27FC236}">
                <a16:creationId xmlns:a16="http://schemas.microsoft.com/office/drawing/2014/main" id="{272275F3-4AF5-ECA3-CE99-6B021BD645FE}"/>
              </a:ext>
            </a:extLst>
          </p:cNvPr>
          <p:cNvSpPr txBox="1">
            <a:spLocks noGrp="1"/>
          </p:cNvSpPr>
          <p:nvPr/>
        </p:nvSpPr>
        <p:spPr>
          <a:xfrm>
            <a:off x="571500" y="167640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lIns="73152" tIns="45720" rIns="73152" bIns="45720">
            <a:normAutofit fontScale="70000" lnSpcReduction="20000"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Choose one daily maintenance regimen by matching induction versus home dosing:</a:t>
            </a:r>
            <a:endParaRPr dirty="0"/>
          </a:p>
        </p:txBody>
      </p:sp>
      <p:sp>
        <p:nvSpPr>
          <p:cNvPr id="4" name="Card320">
            <a:extLst>
              <a:ext uri="{FF2B5EF4-FFF2-40B4-BE49-F238E27FC236}">
                <a16:creationId xmlns:a16="http://schemas.microsoft.com/office/drawing/2014/main" id="{BA49CF21-B581-0F38-C6CF-2FEC1840EFD9}"/>
              </a:ext>
            </a:extLst>
          </p:cNvPr>
          <p:cNvSpPr>
            <a:spLocks noGrp="1"/>
          </p:cNvSpPr>
          <p:nvPr/>
        </p:nvSpPr>
        <p:spPr>
          <a:xfrm>
            <a:off x="571500" y="2133600"/>
            <a:ext cx="2641600" cy="3111500"/>
          </a:xfrm>
          <a:prstGeom prst="roundRect">
            <a:avLst>
              <a:gd name="adj" fmla="val 20000"/>
            </a:avLst>
          </a:prstGeom>
          <a:solidFill>
            <a:srgbClr val="0D2137"/>
          </a:solidFill>
          <a:ln w="9144">
            <a:solidFill>
              <a:srgbClr val="06B6D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" name="Dose320">
            <a:extLst>
              <a:ext uri="{FF2B5EF4-FFF2-40B4-BE49-F238E27FC236}">
                <a16:creationId xmlns:a16="http://schemas.microsoft.com/office/drawing/2014/main" id="{EECE9F9E-2B13-38ED-A86D-5D0778A5CD6C}"/>
              </a:ext>
            </a:extLst>
          </p:cNvPr>
          <p:cNvSpPr txBox="1">
            <a:spLocks noGrp="1"/>
          </p:cNvSpPr>
          <p:nvPr/>
        </p:nvSpPr>
        <p:spPr>
          <a:xfrm>
            <a:off x="698500" y="2387600"/>
            <a:ext cx="2387600" cy="736600"/>
          </a:xfrm>
          <a:prstGeom prst="rect">
            <a:avLst/>
          </a:prstGeom>
          <a:noFill/>
          <a:ln>
            <a:noFill/>
          </a:ln>
        </p:spPr>
        <p:txBody>
          <a:bodyPr lIns="73152" tIns="45720" rIns="73152" bIns="45720">
            <a:normAutofit/>
          </a:bodyPr>
          <a:lstStyle/>
          <a:p>
            <a:pPr algn="ctr">
              <a:buNone/>
            </a:pPr>
            <a:r>
              <a:rPr lang="en-US" sz="3600" b="1" dirty="0">
                <a:solidFill>
                  <a:srgbClr val="06B6D4"/>
                </a:solidFill>
                <a:latin typeface="Plus Jakarta Sans"/>
              </a:rPr>
              <a:t>8 mg</a:t>
            </a:r>
            <a:endParaRPr/>
          </a:p>
        </p:txBody>
      </p:sp>
      <p:sp>
        <p:nvSpPr>
          <p:cNvPr id="6" name="Sig320">
            <a:extLst>
              <a:ext uri="{FF2B5EF4-FFF2-40B4-BE49-F238E27FC236}">
                <a16:creationId xmlns:a16="http://schemas.microsoft.com/office/drawing/2014/main" id="{8F8F62F1-341C-1F34-FF59-AA878C8D7D0B}"/>
              </a:ext>
            </a:extLst>
          </p:cNvPr>
          <p:cNvSpPr txBox="1">
            <a:spLocks noGrp="1"/>
          </p:cNvSpPr>
          <p:nvPr/>
        </p:nvSpPr>
        <p:spPr>
          <a:xfrm>
            <a:off x="698500" y="3276600"/>
            <a:ext cx="2387600" cy="660400"/>
          </a:xfrm>
          <a:prstGeom prst="rect">
            <a:avLst/>
          </a:prstGeom>
          <a:noFill/>
          <a:ln>
            <a:noFill/>
          </a:ln>
        </p:spPr>
        <p:txBody>
          <a:bodyPr lIns="73152" tIns="45720" rIns="73152" bIns="45720">
            <a:normAutofit/>
          </a:bodyPr>
          <a:lstStyle/>
          <a:p>
            <a:pPr algn="ctr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8FAFC"/>
                </a:solidFill>
                <a:latin typeface="Inter"/>
              </a:rPr>
              <a:t>Sublingual, BID</a:t>
            </a:r>
            <a:endParaRPr/>
          </a:p>
        </p:txBody>
      </p:sp>
      <p:sp>
        <p:nvSpPr>
          <p:cNvPr id="7" name="Note320">
            <a:extLst>
              <a:ext uri="{FF2B5EF4-FFF2-40B4-BE49-F238E27FC236}">
                <a16:creationId xmlns:a16="http://schemas.microsoft.com/office/drawing/2014/main" id="{D76B5A19-E181-B224-7531-8EECFCE794DD}"/>
              </a:ext>
            </a:extLst>
          </p:cNvPr>
          <p:cNvSpPr txBox="1">
            <a:spLocks noGrp="1"/>
          </p:cNvSpPr>
          <p:nvPr/>
        </p:nvSpPr>
        <p:spPr>
          <a:xfrm>
            <a:off x="698500" y="4064000"/>
            <a:ext cx="2387600" cy="1041400"/>
          </a:xfrm>
          <a:prstGeom prst="rect">
            <a:avLst/>
          </a:prstGeom>
          <a:noFill/>
          <a:ln>
            <a:noFill/>
          </a:ln>
        </p:spPr>
        <p:txBody>
          <a:bodyPr lIns="73152" tIns="45720" rIns="73152" bIns="45720">
            <a:normAutofit/>
          </a:bodyPr>
          <a:lstStyle/>
          <a:p>
            <a:pPr algn="ctr">
              <a:lnSpc>
                <a:spcPct val="130000"/>
              </a:lnSpc>
              <a:buNone/>
            </a:pPr>
            <a:r>
              <a:rPr lang="en-US" sz="1400" b="0" dirty="0">
                <a:solidFill>
                  <a:srgbClr val="CBD5E1"/>
                </a:solidFill>
                <a:latin typeface="Inter"/>
              </a:rPr>
              <a:t>Twice daily — split dosing</a:t>
            </a:r>
            <a:endParaRPr/>
          </a:p>
        </p:txBody>
      </p:sp>
      <p:sp>
        <p:nvSpPr>
          <p:cNvPr id="8" name="Card321">
            <a:extLst>
              <a:ext uri="{FF2B5EF4-FFF2-40B4-BE49-F238E27FC236}">
                <a16:creationId xmlns:a16="http://schemas.microsoft.com/office/drawing/2014/main" id="{5D63FBE3-E41C-76DC-7CEF-5FAF94067041}"/>
              </a:ext>
            </a:extLst>
          </p:cNvPr>
          <p:cNvSpPr>
            <a:spLocks noGrp="1"/>
          </p:cNvSpPr>
          <p:nvPr/>
        </p:nvSpPr>
        <p:spPr>
          <a:xfrm>
            <a:off x="3365500" y="2133600"/>
            <a:ext cx="2641600" cy="3111500"/>
          </a:xfrm>
          <a:prstGeom prst="roundRect">
            <a:avLst>
              <a:gd name="adj" fmla="val 20000"/>
            </a:avLst>
          </a:prstGeom>
          <a:solidFill>
            <a:srgbClr val="0D2137"/>
          </a:solidFill>
          <a:ln w="9144">
            <a:solidFill>
              <a:srgbClr val="06B6D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" name="Dose321">
            <a:extLst>
              <a:ext uri="{FF2B5EF4-FFF2-40B4-BE49-F238E27FC236}">
                <a16:creationId xmlns:a16="http://schemas.microsoft.com/office/drawing/2014/main" id="{2F1BA8BD-8DA5-4A8C-588B-85D958CCFB97}"/>
              </a:ext>
            </a:extLst>
          </p:cNvPr>
          <p:cNvSpPr txBox="1">
            <a:spLocks noGrp="1"/>
          </p:cNvSpPr>
          <p:nvPr/>
        </p:nvSpPr>
        <p:spPr>
          <a:xfrm>
            <a:off x="3492500" y="2387600"/>
            <a:ext cx="2387600" cy="736600"/>
          </a:xfrm>
          <a:prstGeom prst="rect">
            <a:avLst/>
          </a:prstGeom>
          <a:noFill/>
          <a:ln>
            <a:noFill/>
          </a:ln>
        </p:spPr>
        <p:txBody>
          <a:bodyPr lIns="73152" tIns="45720" rIns="73152" bIns="45720">
            <a:normAutofit/>
          </a:bodyPr>
          <a:lstStyle/>
          <a:p>
            <a:pPr algn="ctr">
              <a:buNone/>
            </a:pPr>
            <a:r>
              <a:rPr lang="en-US" sz="3600" b="1" dirty="0">
                <a:solidFill>
                  <a:srgbClr val="06B6D4"/>
                </a:solidFill>
                <a:latin typeface="Plus Jakarta Sans"/>
              </a:rPr>
              <a:t>16 mg</a:t>
            </a:r>
            <a:endParaRPr/>
          </a:p>
        </p:txBody>
      </p:sp>
      <p:sp>
        <p:nvSpPr>
          <p:cNvPr id="10" name="Sig321">
            <a:extLst>
              <a:ext uri="{FF2B5EF4-FFF2-40B4-BE49-F238E27FC236}">
                <a16:creationId xmlns:a16="http://schemas.microsoft.com/office/drawing/2014/main" id="{C7EF69DF-7C1E-D837-DE87-ADD1801DE84C}"/>
              </a:ext>
            </a:extLst>
          </p:cNvPr>
          <p:cNvSpPr txBox="1">
            <a:spLocks noGrp="1"/>
          </p:cNvSpPr>
          <p:nvPr/>
        </p:nvSpPr>
        <p:spPr>
          <a:xfrm>
            <a:off x="3492500" y="3276600"/>
            <a:ext cx="2387600" cy="660400"/>
          </a:xfrm>
          <a:prstGeom prst="rect">
            <a:avLst/>
          </a:prstGeom>
          <a:noFill/>
          <a:ln>
            <a:noFill/>
          </a:ln>
        </p:spPr>
        <p:txBody>
          <a:bodyPr lIns="73152" tIns="45720" rIns="73152" bIns="45720">
            <a:normAutofit/>
          </a:bodyPr>
          <a:lstStyle/>
          <a:p>
            <a:pPr algn="ctr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8FAFC"/>
                </a:solidFill>
                <a:latin typeface="Inter"/>
              </a:rPr>
              <a:t>Sublingual, Daily</a:t>
            </a:r>
            <a:endParaRPr/>
          </a:p>
        </p:txBody>
      </p:sp>
      <p:sp>
        <p:nvSpPr>
          <p:cNvPr id="11" name="Note321">
            <a:extLst>
              <a:ext uri="{FF2B5EF4-FFF2-40B4-BE49-F238E27FC236}">
                <a16:creationId xmlns:a16="http://schemas.microsoft.com/office/drawing/2014/main" id="{A020F4FD-AA3F-DF19-502C-F46BF5DB4B40}"/>
              </a:ext>
            </a:extLst>
          </p:cNvPr>
          <p:cNvSpPr txBox="1">
            <a:spLocks noGrp="1"/>
          </p:cNvSpPr>
          <p:nvPr/>
        </p:nvSpPr>
        <p:spPr>
          <a:xfrm>
            <a:off x="3492500" y="4064000"/>
            <a:ext cx="2387600" cy="1041400"/>
          </a:xfrm>
          <a:prstGeom prst="rect">
            <a:avLst/>
          </a:prstGeom>
          <a:noFill/>
          <a:ln>
            <a:noFill/>
          </a:ln>
        </p:spPr>
        <p:txBody>
          <a:bodyPr lIns="73152" tIns="45720" rIns="73152" bIns="45720">
            <a:normAutofit/>
          </a:bodyPr>
          <a:lstStyle/>
          <a:p>
            <a:pPr algn="ctr">
              <a:lnSpc>
                <a:spcPct val="130000"/>
              </a:lnSpc>
              <a:buNone/>
            </a:pPr>
            <a:r>
              <a:rPr lang="en-US" sz="1400" b="0" dirty="0">
                <a:solidFill>
                  <a:srgbClr val="CBD5E1"/>
                </a:solidFill>
                <a:latin typeface="Inter"/>
              </a:rPr>
              <a:t>Standard maintenance dose</a:t>
            </a:r>
            <a:endParaRPr/>
          </a:p>
        </p:txBody>
      </p:sp>
      <p:sp>
        <p:nvSpPr>
          <p:cNvPr id="12" name="Card322">
            <a:extLst>
              <a:ext uri="{FF2B5EF4-FFF2-40B4-BE49-F238E27FC236}">
                <a16:creationId xmlns:a16="http://schemas.microsoft.com/office/drawing/2014/main" id="{C1F1274A-427E-BE61-BE49-97B1809F13AF}"/>
              </a:ext>
            </a:extLst>
          </p:cNvPr>
          <p:cNvSpPr>
            <a:spLocks noGrp="1"/>
          </p:cNvSpPr>
          <p:nvPr/>
        </p:nvSpPr>
        <p:spPr>
          <a:xfrm>
            <a:off x="6159500" y="2133600"/>
            <a:ext cx="2641600" cy="3111500"/>
          </a:xfrm>
          <a:prstGeom prst="roundRect">
            <a:avLst>
              <a:gd name="adj" fmla="val 20000"/>
            </a:avLst>
          </a:prstGeom>
          <a:solidFill>
            <a:srgbClr val="0D2137"/>
          </a:solidFill>
          <a:ln w="9144">
            <a:solidFill>
              <a:srgbClr val="06B6D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" name="Dose322">
            <a:extLst>
              <a:ext uri="{FF2B5EF4-FFF2-40B4-BE49-F238E27FC236}">
                <a16:creationId xmlns:a16="http://schemas.microsoft.com/office/drawing/2014/main" id="{1905B34E-12D7-6620-0030-34F53B00AA1A}"/>
              </a:ext>
            </a:extLst>
          </p:cNvPr>
          <p:cNvSpPr txBox="1">
            <a:spLocks noGrp="1"/>
          </p:cNvSpPr>
          <p:nvPr/>
        </p:nvSpPr>
        <p:spPr>
          <a:xfrm>
            <a:off x="6286500" y="2387600"/>
            <a:ext cx="2387600" cy="736600"/>
          </a:xfrm>
          <a:prstGeom prst="rect">
            <a:avLst/>
          </a:prstGeom>
          <a:noFill/>
          <a:ln>
            <a:noFill/>
          </a:ln>
        </p:spPr>
        <p:txBody>
          <a:bodyPr lIns="73152" tIns="45720" rIns="73152" bIns="45720">
            <a:normAutofit/>
          </a:bodyPr>
          <a:lstStyle/>
          <a:p>
            <a:pPr algn="ctr">
              <a:buNone/>
            </a:pPr>
            <a:r>
              <a:rPr lang="en-US" sz="3600" b="1" dirty="0">
                <a:solidFill>
                  <a:srgbClr val="06B6D4"/>
                </a:solidFill>
                <a:latin typeface="Plus Jakarta Sans"/>
              </a:rPr>
              <a:t>24 mg</a:t>
            </a:r>
            <a:endParaRPr/>
          </a:p>
        </p:txBody>
      </p:sp>
      <p:sp>
        <p:nvSpPr>
          <p:cNvPr id="14" name="Sig322">
            <a:extLst>
              <a:ext uri="{FF2B5EF4-FFF2-40B4-BE49-F238E27FC236}">
                <a16:creationId xmlns:a16="http://schemas.microsoft.com/office/drawing/2014/main" id="{29688CD8-CD35-7900-64EC-CBBF24A798F4}"/>
              </a:ext>
            </a:extLst>
          </p:cNvPr>
          <p:cNvSpPr txBox="1">
            <a:spLocks noGrp="1"/>
          </p:cNvSpPr>
          <p:nvPr/>
        </p:nvSpPr>
        <p:spPr>
          <a:xfrm>
            <a:off x="6286500" y="3276600"/>
            <a:ext cx="2387600" cy="660400"/>
          </a:xfrm>
          <a:prstGeom prst="rect">
            <a:avLst/>
          </a:prstGeom>
          <a:noFill/>
          <a:ln>
            <a:noFill/>
          </a:ln>
        </p:spPr>
        <p:txBody>
          <a:bodyPr lIns="73152" tIns="45720" rIns="73152" bIns="45720">
            <a:normAutofit/>
          </a:bodyPr>
          <a:lstStyle/>
          <a:p>
            <a:pPr algn="ctr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8FAFC"/>
                </a:solidFill>
                <a:latin typeface="Inter"/>
              </a:rPr>
              <a:t>Sublingual, Daily</a:t>
            </a:r>
            <a:endParaRPr/>
          </a:p>
        </p:txBody>
      </p:sp>
      <p:sp>
        <p:nvSpPr>
          <p:cNvPr id="15" name="Note322">
            <a:extLst>
              <a:ext uri="{FF2B5EF4-FFF2-40B4-BE49-F238E27FC236}">
                <a16:creationId xmlns:a16="http://schemas.microsoft.com/office/drawing/2014/main" id="{87B5B3FA-8BB9-F855-F7BA-C97F48A4E0E3}"/>
              </a:ext>
            </a:extLst>
          </p:cNvPr>
          <p:cNvSpPr txBox="1">
            <a:spLocks noGrp="1"/>
          </p:cNvSpPr>
          <p:nvPr/>
        </p:nvSpPr>
        <p:spPr>
          <a:xfrm>
            <a:off x="6286500" y="4064000"/>
            <a:ext cx="2387600" cy="1041400"/>
          </a:xfrm>
          <a:prstGeom prst="rect">
            <a:avLst/>
          </a:prstGeom>
          <a:noFill/>
          <a:ln>
            <a:noFill/>
          </a:ln>
        </p:spPr>
        <p:txBody>
          <a:bodyPr lIns="73152" tIns="45720" rIns="73152" bIns="45720">
            <a:normAutofit/>
          </a:bodyPr>
          <a:lstStyle/>
          <a:p>
            <a:pPr algn="ctr">
              <a:lnSpc>
                <a:spcPct val="130000"/>
              </a:lnSpc>
              <a:buNone/>
            </a:pPr>
            <a:r>
              <a:rPr lang="en-US" sz="1400" b="0" dirty="0">
                <a:solidFill>
                  <a:srgbClr val="CBD5E1"/>
                </a:solidFill>
                <a:latin typeface="Inter"/>
              </a:rPr>
              <a:t>Higher opioid dependence</a:t>
            </a:r>
            <a:endParaRPr/>
          </a:p>
        </p:txBody>
      </p:sp>
      <p:sp>
        <p:nvSpPr>
          <p:cNvPr id="16" name="Card323">
            <a:extLst>
              <a:ext uri="{FF2B5EF4-FFF2-40B4-BE49-F238E27FC236}">
                <a16:creationId xmlns:a16="http://schemas.microsoft.com/office/drawing/2014/main" id="{10D31DD6-78AD-9DC7-6B76-D0AF728D325F}"/>
              </a:ext>
            </a:extLst>
          </p:cNvPr>
          <p:cNvSpPr>
            <a:spLocks noGrp="1"/>
          </p:cNvSpPr>
          <p:nvPr/>
        </p:nvSpPr>
        <p:spPr>
          <a:xfrm>
            <a:off x="8953500" y="2133600"/>
            <a:ext cx="2641600" cy="3111500"/>
          </a:xfrm>
          <a:prstGeom prst="roundRect">
            <a:avLst>
              <a:gd name="adj" fmla="val 20000"/>
            </a:avLst>
          </a:prstGeom>
          <a:solidFill>
            <a:srgbClr val="0D2137"/>
          </a:solidFill>
          <a:ln w="9144">
            <a:solidFill>
              <a:srgbClr val="06B6D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7" name="Dose323">
            <a:extLst>
              <a:ext uri="{FF2B5EF4-FFF2-40B4-BE49-F238E27FC236}">
                <a16:creationId xmlns:a16="http://schemas.microsoft.com/office/drawing/2014/main" id="{213ADFB3-1BB0-AE77-F5CA-5EF7724B917C}"/>
              </a:ext>
            </a:extLst>
          </p:cNvPr>
          <p:cNvSpPr txBox="1">
            <a:spLocks noGrp="1"/>
          </p:cNvSpPr>
          <p:nvPr/>
        </p:nvSpPr>
        <p:spPr>
          <a:xfrm>
            <a:off x="9080500" y="2387600"/>
            <a:ext cx="2387600" cy="736600"/>
          </a:xfrm>
          <a:prstGeom prst="rect">
            <a:avLst/>
          </a:prstGeom>
          <a:noFill/>
          <a:ln>
            <a:noFill/>
          </a:ln>
        </p:spPr>
        <p:txBody>
          <a:bodyPr lIns="73152" tIns="45720" rIns="73152" bIns="45720">
            <a:normAutofit/>
          </a:bodyPr>
          <a:lstStyle/>
          <a:p>
            <a:pPr algn="ctr">
              <a:buNone/>
            </a:pPr>
            <a:r>
              <a:rPr lang="en-US" sz="3600" b="1" dirty="0">
                <a:solidFill>
                  <a:srgbClr val="06B6D4"/>
                </a:solidFill>
                <a:latin typeface="Plus Jakarta Sans"/>
              </a:rPr>
              <a:t>32 mg</a:t>
            </a:r>
            <a:endParaRPr/>
          </a:p>
        </p:txBody>
      </p:sp>
      <p:sp>
        <p:nvSpPr>
          <p:cNvPr id="18" name="Sig323">
            <a:extLst>
              <a:ext uri="{FF2B5EF4-FFF2-40B4-BE49-F238E27FC236}">
                <a16:creationId xmlns:a16="http://schemas.microsoft.com/office/drawing/2014/main" id="{528780C0-4A0C-E1F4-154E-A19D52AF248F}"/>
              </a:ext>
            </a:extLst>
          </p:cNvPr>
          <p:cNvSpPr txBox="1">
            <a:spLocks noGrp="1"/>
          </p:cNvSpPr>
          <p:nvPr/>
        </p:nvSpPr>
        <p:spPr>
          <a:xfrm>
            <a:off x="9080500" y="3276600"/>
            <a:ext cx="2387600" cy="660400"/>
          </a:xfrm>
          <a:prstGeom prst="rect">
            <a:avLst/>
          </a:prstGeom>
          <a:noFill/>
          <a:ln>
            <a:noFill/>
          </a:ln>
        </p:spPr>
        <p:txBody>
          <a:bodyPr lIns="73152" tIns="45720" rIns="73152" bIns="45720">
            <a:normAutofit/>
          </a:bodyPr>
          <a:lstStyle/>
          <a:p>
            <a:pPr algn="ctr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8FAFC"/>
                </a:solidFill>
                <a:latin typeface="Inter"/>
              </a:rPr>
              <a:t>Sublingual, Daily</a:t>
            </a:r>
            <a:endParaRPr/>
          </a:p>
        </p:txBody>
      </p:sp>
      <p:sp>
        <p:nvSpPr>
          <p:cNvPr id="19" name="Note323">
            <a:extLst>
              <a:ext uri="{FF2B5EF4-FFF2-40B4-BE49-F238E27FC236}">
                <a16:creationId xmlns:a16="http://schemas.microsoft.com/office/drawing/2014/main" id="{7C22D963-A677-9BC7-9529-08D02554A0BD}"/>
              </a:ext>
            </a:extLst>
          </p:cNvPr>
          <p:cNvSpPr txBox="1">
            <a:spLocks noGrp="1"/>
          </p:cNvSpPr>
          <p:nvPr/>
        </p:nvSpPr>
        <p:spPr>
          <a:xfrm>
            <a:off x="9080500" y="4064000"/>
            <a:ext cx="2387600" cy="1041400"/>
          </a:xfrm>
          <a:prstGeom prst="rect">
            <a:avLst/>
          </a:prstGeom>
          <a:noFill/>
          <a:ln>
            <a:noFill/>
          </a:ln>
        </p:spPr>
        <p:txBody>
          <a:bodyPr lIns="73152" tIns="45720" rIns="73152" bIns="45720">
            <a:normAutofit/>
          </a:bodyPr>
          <a:lstStyle/>
          <a:p>
            <a:pPr algn="ctr">
              <a:lnSpc>
                <a:spcPct val="130000"/>
              </a:lnSpc>
              <a:buNone/>
            </a:pPr>
            <a:r>
              <a:rPr lang="en-US" sz="1400" b="0" dirty="0">
                <a:solidFill>
                  <a:srgbClr val="CBD5E1"/>
                </a:solidFill>
                <a:latin typeface="Inter"/>
              </a:rPr>
              <a:t>Severe opioid dependence</a:t>
            </a:r>
            <a:endParaRPr/>
          </a:p>
        </p:txBody>
      </p:sp>
      <p:sp>
        <p:nvSpPr>
          <p:cNvPr id="20" name="ExistingNote">
            <a:extLst>
              <a:ext uri="{FF2B5EF4-FFF2-40B4-BE49-F238E27FC236}">
                <a16:creationId xmlns:a16="http://schemas.microsoft.com/office/drawing/2014/main" id="{59712520-6D3F-C712-AB93-564BC2D01388}"/>
              </a:ext>
            </a:extLst>
          </p:cNvPr>
          <p:cNvSpPr txBox="1">
            <a:spLocks noGrp="1"/>
          </p:cNvSpPr>
          <p:nvPr/>
        </p:nvSpPr>
        <p:spPr>
          <a:xfrm>
            <a:off x="571500" y="5397500"/>
            <a:ext cx="11049000" cy="787400"/>
          </a:xfrm>
          <a:prstGeom prst="roundRect">
            <a:avLst>
              <a:gd name="adj" fmla="val 15000"/>
            </a:avLst>
          </a:prstGeom>
          <a:solidFill>
            <a:srgbClr val="0D2137"/>
          </a:solidFill>
          <a:ln>
            <a:solidFill>
              <a:srgbClr val="06B6D4"/>
            </a:solidFill>
          </a:ln>
        </p:spPr>
        <p:txBody>
          <a:bodyPr lIns="73152" tIns="45720" rIns="73152" bIns="45720">
            <a:normAutofit/>
          </a:bodyPr>
          <a:lstStyle/>
          <a:p>
            <a:pPr algn="l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06B6D4"/>
                </a:solidFill>
                <a:latin typeface="Inter"/>
              </a:rPr>
              <a:t>For patients already on buprenorphine: </a:t>
            </a:r>
            <a:r>
              <a:rPr lang="en-US" sz="1500" b="0" dirty="0">
                <a:solidFill>
                  <a:srgbClr val="CBD5E1"/>
                </a:solidFill>
                <a:latin typeface="Inter"/>
              </a:rPr>
              <a:t>Confirm their current dose and continue as the maintenance dose.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717221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Shape 205">
          <a:extLst>
            <a:ext uri="{FF2B5EF4-FFF2-40B4-BE49-F238E27FC236}">
              <a16:creationId xmlns:a16="http://schemas.microsoft.com/office/drawing/2014/main" id="{D1BFB560-CBC9-F627-16D5-CA92008C1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0">
            <a:extLst>
              <a:ext uri="{FF2B5EF4-FFF2-40B4-BE49-F238E27FC236}">
                <a16:creationId xmlns:a16="http://schemas.microsoft.com/office/drawing/2014/main" id="{F7E12B4B-C831-3E40-1DFB-F973E60BD14A}"/>
              </a:ext>
            </a:extLst>
          </p:cNvPr>
          <p:cNvSpPr txBox="1"/>
          <p:nvPr/>
        </p:nvSpPr>
        <p:spPr>
          <a:xfrm>
            <a:off x="571500" y="476250"/>
            <a:ext cx="116014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Buprenorphine Discharge &amp; Linkage</a:t>
            </a:r>
            <a:endParaRPr dirty="0"/>
          </a:p>
        </p:txBody>
      </p:sp>
      <p:sp>
        <p:nvSpPr>
          <p:cNvPr id="227" name="Google Shape;227;p20">
            <a:extLst>
              <a:ext uri="{FF2B5EF4-FFF2-40B4-BE49-F238E27FC236}">
                <a16:creationId xmlns:a16="http://schemas.microsoft.com/office/drawing/2014/main" id="{0100B8CA-C5AC-EE6D-9AF0-010D02ECAAEA}"/>
              </a:ext>
            </a:extLst>
          </p:cNvPr>
          <p:cNvSpPr/>
          <p:nvPr/>
        </p:nvSpPr>
        <p:spPr>
          <a:xfrm>
            <a:off x="571500" y="1123950"/>
            <a:ext cx="1104900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alHeader">
            <a:extLst>
              <a:ext uri="{FF2B5EF4-FFF2-40B4-BE49-F238E27FC236}">
                <a16:creationId xmlns:a16="http://schemas.microsoft.com/office/drawing/2014/main" id="{8876A2C9-25F3-8E38-EC0A-A007649AEFDB}"/>
              </a:ext>
            </a:extLst>
          </p:cNvPr>
          <p:cNvSpPr txBox="1">
            <a:spLocks noGrp="1"/>
          </p:cNvSpPr>
          <p:nvPr/>
        </p:nvSpPr>
        <p:spPr>
          <a:xfrm>
            <a:off x="571500" y="127000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lIns="73152" tIns="45720" rIns="73152" bIns="45720">
            <a:normAutofit lnSpcReduction="10000"/>
          </a:bodyPr>
          <a:lstStyle/>
          <a:p>
            <a:pPr algn="l">
              <a:buNone/>
            </a:pPr>
            <a:r>
              <a:rPr lang="en-US" sz="1500" b="1" dirty="0">
                <a:solidFill>
                  <a:srgbClr val="06B6D4"/>
                </a:solidFill>
                <a:latin typeface="Inter"/>
              </a:rPr>
              <a:t>Goal: Ensure a smooth transition to outpatient care and sustained recovery.</a:t>
            </a:r>
            <a:endParaRPr/>
          </a:p>
        </p:txBody>
      </p:sp>
      <p:sp>
        <p:nvSpPr>
          <p:cNvPr id="3" name="Intro">
            <a:extLst>
              <a:ext uri="{FF2B5EF4-FFF2-40B4-BE49-F238E27FC236}">
                <a16:creationId xmlns:a16="http://schemas.microsoft.com/office/drawing/2014/main" id="{84D25E23-9A21-2BEC-7900-78F9A733346F}"/>
              </a:ext>
            </a:extLst>
          </p:cNvPr>
          <p:cNvSpPr txBox="1">
            <a:spLocks noGrp="1"/>
          </p:cNvSpPr>
          <p:nvPr/>
        </p:nvSpPr>
        <p:spPr>
          <a:xfrm>
            <a:off x="571500" y="167640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lIns="73152" tIns="45720" rIns="73152" bIns="45720">
            <a:normAutofit fontScale="70000" lnSpcReduction="20000"/>
          </a:bodyPr>
          <a:lstStyle/>
          <a:p>
            <a:pPr algn="l">
              <a:lnSpc>
                <a:spcPct val="150000"/>
              </a:lnSpc>
              <a:buNone/>
            </a:pPr>
            <a:r>
              <a:rPr lang="en-US" sz="1500" b="0" dirty="0">
                <a:solidFill>
                  <a:srgbClr val="CBD5E1"/>
                </a:solidFill>
                <a:latin typeface="Inter"/>
              </a:rPr>
              <a:t>Provide a 2-week buprenorphine supply at the stabilized dose, naloxone for safety, and link to ongoing care.</a:t>
            </a:r>
            <a:endParaRPr/>
          </a:p>
        </p:txBody>
      </p:sp>
      <p:sp>
        <p:nvSpPr>
          <p:cNvPr id="400" name="Col1Bg"/>
          <p:cNvSpPr>
            <a:spLocks noGrp="1"/>
          </p:cNvSpPr>
          <p:nvPr/>
        </p:nvSpPr>
        <p:spPr>
          <a:xfrm>
            <a:off x="584200" y="2171700"/>
            <a:ext cx="3606800" cy="3873500"/>
          </a:xfrm>
          <a:prstGeom prst="roundRect">
            <a:avLst>
              <a:gd name="adj" fmla="val 12000"/>
            </a:avLst>
          </a:prstGeom>
          <a:solidFill>
            <a:srgbClr val="0D2137"/>
          </a:solidFill>
          <a:ln w="9144">
            <a:solidFill>
              <a:srgbClr val="06B6D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01" name="Col1Header"/>
          <p:cNvSpPr txBox="1">
            <a:spLocks noGrp="1"/>
          </p:cNvSpPr>
          <p:nvPr/>
        </p:nvSpPr>
        <p:spPr>
          <a:xfrm>
            <a:off x="736600" y="2336800"/>
            <a:ext cx="3289300" cy="330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/>
          </a:bodyPr>
          <a:lstStyle/>
          <a:p>
            <a:pPr algn="l">
              <a:buNone/>
            </a:pPr>
            <a:r>
              <a:rPr lang="en-US" sz="1600" b="1" dirty="0">
                <a:solidFill>
                  <a:srgbClr val="06B6D4"/>
                </a:solidFill>
                <a:latin typeface="Plus Jakarta Sans"/>
              </a:rPr>
              <a:t>Discharge Prescription</a:t>
            </a:r>
            <a:endParaRPr/>
          </a:p>
        </p:txBody>
      </p:sp>
      <p:sp>
        <p:nvSpPr>
          <p:cNvPr id="410" name="RxRow0"/>
          <p:cNvSpPr>
            <a:spLocks noGrp="1"/>
          </p:cNvSpPr>
          <p:nvPr/>
        </p:nvSpPr>
        <p:spPr>
          <a:xfrm>
            <a:off x="736600" y="2743200"/>
            <a:ext cx="3289300" cy="647700"/>
          </a:xfrm>
          <a:prstGeom prst="roundRect">
            <a:avLst>
              <a:gd name="adj" fmla="val 8000"/>
            </a:avLst>
          </a:prstGeom>
          <a:solidFill>
            <a:srgbClr val="13224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20" name="RxDose0"/>
          <p:cNvSpPr txBox="1">
            <a:spLocks noGrp="1"/>
          </p:cNvSpPr>
          <p:nvPr/>
        </p:nvSpPr>
        <p:spPr>
          <a:xfrm>
            <a:off x="825500" y="2819400"/>
            <a:ext cx="838200" cy="203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/>
          </a:bodyPr>
          <a:lstStyle/>
          <a:p>
            <a:pPr algn="l">
              <a:buNone/>
            </a:pPr>
            <a:r>
              <a:rPr lang="en-US" sz="1200" b="1" dirty="0">
                <a:solidFill>
                  <a:srgbClr val="06B6D4"/>
                </a:solidFill>
                <a:latin typeface="Inter"/>
              </a:rPr>
              <a:t>8 mg/day</a:t>
            </a:r>
            <a:endParaRPr/>
          </a:p>
        </p:txBody>
      </p:sp>
      <p:sp>
        <p:nvSpPr>
          <p:cNvPr id="430" name="RxDrug0"/>
          <p:cNvSpPr txBox="1">
            <a:spLocks noGrp="1"/>
          </p:cNvSpPr>
          <p:nvPr/>
        </p:nvSpPr>
        <p:spPr>
          <a:xfrm>
            <a:off x="825500" y="3022600"/>
            <a:ext cx="3124200" cy="177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 fontScale="85000" lnSpcReduction="10000"/>
          </a:bodyPr>
          <a:lstStyle/>
          <a:p>
            <a:pPr algn="l">
              <a:buNone/>
            </a:pPr>
            <a:r>
              <a:rPr lang="en-US" sz="1100" b="0" dirty="0">
                <a:solidFill>
                  <a:srgbClr val="94A3B8"/>
                </a:solidFill>
                <a:latin typeface="Inter"/>
              </a:rPr>
              <a:t>Suboxone (buprenorphine/naloxone) 8 mg/2 mg SL Film</a:t>
            </a:r>
            <a:endParaRPr/>
          </a:p>
        </p:txBody>
      </p:sp>
      <p:sp>
        <p:nvSpPr>
          <p:cNvPr id="440" name="RxSig0"/>
          <p:cNvSpPr txBox="1">
            <a:spLocks noGrp="1"/>
          </p:cNvSpPr>
          <p:nvPr/>
        </p:nvSpPr>
        <p:spPr>
          <a:xfrm>
            <a:off x="825500" y="3175000"/>
            <a:ext cx="3124200" cy="177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/>
          </a:bodyPr>
          <a:lstStyle/>
          <a:p>
            <a:pPr algn="l">
              <a:buNone/>
            </a:pPr>
            <a:r>
              <a:rPr lang="en-US" sz="1100" b="0" dirty="0">
                <a:solidFill>
                  <a:srgbClr val="CBD5E1"/>
                </a:solidFill>
                <a:latin typeface="Inter"/>
              </a:rPr>
              <a:t>Take 1 film sublingual once daily  ·  #14</a:t>
            </a:r>
            <a:endParaRPr/>
          </a:p>
        </p:txBody>
      </p:sp>
      <p:sp>
        <p:nvSpPr>
          <p:cNvPr id="411" name="RxRow1"/>
          <p:cNvSpPr>
            <a:spLocks noGrp="1"/>
          </p:cNvSpPr>
          <p:nvPr/>
        </p:nvSpPr>
        <p:spPr>
          <a:xfrm>
            <a:off x="736600" y="3441700"/>
            <a:ext cx="3289300" cy="647700"/>
          </a:xfrm>
          <a:prstGeom prst="roundRect">
            <a:avLst>
              <a:gd name="adj" fmla="val 8000"/>
            </a:avLst>
          </a:prstGeom>
          <a:solidFill>
            <a:srgbClr val="13224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21" name="RxDose1"/>
          <p:cNvSpPr txBox="1">
            <a:spLocks noGrp="1"/>
          </p:cNvSpPr>
          <p:nvPr/>
        </p:nvSpPr>
        <p:spPr>
          <a:xfrm>
            <a:off x="825500" y="3517900"/>
            <a:ext cx="838200" cy="203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/>
          </a:bodyPr>
          <a:lstStyle/>
          <a:p>
            <a:pPr algn="l">
              <a:buNone/>
            </a:pPr>
            <a:r>
              <a:rPr lang="en-US" sz="1200" b="1" dirty="0">
                <a:solidFill>
                  <a:srgbClr val="06B6D4"/>
                </a:solidFill>
                <a:latin typeface="Inter"/>
              </a:rPr>
              <a:t>16 mg/day</a:t>
            </a:r>
            <a:endParaRPr/>
          </a:p>
        </p:txBody>
      </p:sp>
      <p:sp>
        <p:nvSpPr>
          <p:cNvPr id="431" name="RxDrug1"/>
          <p:cNvSpPr txBox="1">
            <a:spLocks noGrp="1"/>
          </p:cNvSpPr>
          <p:nvPr/>
        </p:nvSpPr>
        <p:spPr>
          <a:xfrm>
            <a:off x="825500" y="3721100"/>
            <a:ext cx="3124200" cy="177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 fontScale="85000" lnSpcReduction="10000"/>
          </a:bodyPr>
          <a:lstStyle/>
          <a:p>
            <a:pPr algn="l">
              <a:buNone/>
            </a:pPr>
            <a:r>
              <a:rPr lang="en-US" sz="1100" b="0" dirty="0">
                <a:solidFill>
                  <a:srgbClr val="94A3B8"/>
                </a:solidFill>
                <a:latin typeface="Inter"/>
              </a:rPr>
              <a:t>Suboxone (buprenorphine/naloxone) 8 mg/2 mg SL Film</a:t>
            </a:r>
            <a:endParaRPr/>
          </a:p>
        </p:txBody>
      </p:sp>
      <p:sp>
        <p:nvSpPr>
          <p:cNvPr id="441" name="RxSig1"/>
          <p:cNvSpPr txBox="1">
            <a:spLocks noGrp="1"/>
          </p:cNvSpPr>
          <p:nvPr/>
        </p:nvSpPr>
        <p:spPr>
          <a:xfrm>
            <a:off x="825500" y="3873500"/>
            <a:ext cx="3124200" cy="177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/>
          </a:bodyPr>
          <a:lstStyle/>
          <a:p>
            <a:pPr algn="l">
              <a:buNone/>
            </a:pPr>
            <a:r>
              <a:rPr lang="en-US" sz="1100" b="0" dirty="0">
                <a:solidFill>
                  <a:srgbClr val="CBD5E1"/>
                </a:solidFill>
                <a:latin typeface="Inter"/>
              </a:rPr>
              <a:t>Take 2 films sublingual once daily  ·  #28</a:t>
            </a:r>
            <a:endParaRPr/>
          </a:p>
        </p:txBody>
      </p:sp>
      <p:sp>
        <p:nvSpPr>
          <p:cNvPr id="412" name="RxRow2"/>
          <p:cNvSpPr>
            <a:spLocks noGrp="1"/>
          </p:cNvSpPr>
          <p:nvPr/>
        </p:nvSpPr>
        <p:spPr>
          <a:xfrm>
            <a:off x="736600" y="4140200"/>
            <a:ext cx="3289300" cy="647700"/>
          </a:xfrm>
          <a:prstGeom prst="roundRect">
            <a:avLst>
              <a:gd name="adj" fmla="val 8000"/>
            </a:avLst>
          </a:prstGeom>
          <a:solidFill>
            <a:srgbClr val="13224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22" name="RxDose2"/>
          <p:cNvSpPr txBox="1">
            <a:spLocks noGrp="1"/>
          </p:cNvSpPr>
          <p:nvPr/>
        </p:nvSpPr>
        <p:spPr>
          <a:xfrm>
            <a:off x="825500" y="4216400"/>
            <a:ext cx="838200" cy="203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/>
          </a:bodyPr>
          <a:lstStyle/>
          <a:p>
            <a:pPr algn="l">
              <a:buNone/>
            </a:pPr>
            <a:r>
              <a:rPr lang="en-US" sz="1200" b="1" dirty="0">
                <a:solidFill>
                  <a:srgbClr val="06B6D4"/>
                </a:solidFill>
                <a:latin typeface="Inter"/>
              </a:rPr>
              <a:t>24 mg/day</a:t>
            </a:r>
            <a:endParaRPr/>
          </a:p>
        </p:txBody>
      </p:sp>
      <p:sp>
        <p:nvSpPr>
          <p:cNvPr id="432" name="RxDrug2"/>
          <p:cNvSpPr txBox="1">
            <a:spLocks noGrp="1"/>
          </p:cNvSpPr>
          <p:nvPr/>
        </p:nvSpPr>
        <p:spPr>
          <a:xfrm>
            <a:off x="825500" y="4419600"/>
            <a:ext cx="3124200" cy="177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 fontScale="85000" lnSpcReduction="10000"/>
          </a:bodyPr>
          <a:lstStyle/>
          <a:p>
            <a:pPr algn="l">
              <a:buNone/>
            </a:pPr>
            <a:r>
              <a:rPr lang="en-US" sz="1100" b="0" dirty="0">
                <a:solidFill>
                  <a:srgbClr val="94A3B8"/>
                </a:solidFill>
                <a:latin typeface="Inter"/>
              </a:rPr>
              <a:t>Suboxone (buprenorphine/naloxone) 8 mg/2 mg SL Film</a:t>
            </a:r>
            <a:endParaRPr/>
          </a:p>
        </p:txBody>
      </p:sp>
      <p:sp>
        <p:nvSpPr>
          <p:cNvPr id="442" name="RxSig2"/>
          <p:cNvSpPr txBox="1">
            <a:spLocks noGrp="1"/>
          </p:cNvSpPr>
          <p:nvPr/>
        </p:nvSpPr>
        <p:spPr>
          <a:xfrm>
            <a:off x="825500" y="4584700"/>
            <a:ext cx="3124200" cy="177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/>
          </a:bodyPr>
          <a:lstStyle/>
          <a:p>
            <a:pPr algn="l">
              <a:buNone/>
            </a:pPr>
            <a:r>
              <a:rPr lang="en-US" sz="1100" b="0" dirty="0">
                <a:solidFill>
                  <a:srgbClr val="CBD5E1"/>
                </a:solidFill>
                <a:latin typeface="Inter"/>
              </a:rPr>
              <a:t>Take 3 films sublingual once daily  ·  #42</a:t>
            </a:r>
            <a:endParaRPr/>
          </a:p>
        </p:txBody>
      </p:sp>
      <p:sp>
        <p:nvSpPr>
          <p:cNvPr id="413" name="RxRow3"/>
          <p:cNvSpPr>
            <a:spLocks noGrp="1"/>
          </p:cNvSpPr>
          <p:nvPr/>
        </p:nvSpPr>
        <p:spPr>
          <a:xfrm>
            <a:off x="736600" y="4838700"/>
            <a:ext cx="3289300" cy="647700"/>
          </a:xfrm>
          <a:prstGeom prst="roundRect">
            <a:avLst>
              <a:gd name="adj" fmla="val 8000"/>
            </a:avLst>
          </a:prstGeom>
          <a:solidFill>
            <a:srgbClr val="13224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23" name="RxDose3"/>
          <p:cNvSpPr txBox="1">
            <a:spLocks noGrp="1"/>
          </p:cNvSpPr>
          <p:nvPr/>
        </p:nvSpPr>
        <p:spPr>
          <a:xfrm>
            <a:off x="825500" y="4914900"/>
            <a:ext cx="838200" cy="203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/>
          </a:bodyPr>
          <a:lstStyle/>
          <a:p>
            <a:pPr algn="l">
              <a:buNone/>
            </a:pPr>
            <a:r>
              <a:rPr lang="en-US" sz="1200" b="1" dirty="0">
                <a:solidFill>
                  <a:srgbClr val="06B6D4"/>
                </a:solidFill>
                <a:latin typeface="Inter"/>
              </a:rPr>
              <a:t>32 mg/day</a:t>
            </a:r>
            <a:endParaRPr/>
          </a:p>
        </p:txBody>
      </p:sp>
      <p:sp>
        <p:nvSpPr>
          <p:cNvPr id="433" name="RxDrug3"/>
          <p:cNvSpPr txBox="1">
            <a:spLocks noGrp="1"/>
          </p:cNvSpPr>
          <p:nvPr/>
        </p:nvSpPr>
        <p:spPr>
          <a:xfrm>
            <a:off x="825500" y="5118100"/>
            <a:ext cx="3124200" cy="177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 fontScale="85000" lnSpcReduction="10000"/>
          </a:bodyPr>
          <a:lstStyle/>
          <a:p>
            <a:pPr algn="l">
              <a:buNone/>
            </a:pPr>
            <a:r>
              <a:rPr lang="en-US" sz="1100" b="0" dirty="0">
                <a:solidFill>
                  <a:srgbClr val="94A3B8"/>
                </a:solidFill>
                <a:latin typeface="Inter"/>
              </a:rPr>
              <a:t>Suboxone (buprenorphine/naloxone) 8 mg/2 mg SL Film</a:t>
            </a:r>
            <a:endParaRPr/>
          </a:p>
        </p:txBody>
      </p:sp>
      <p:sp>
        <p:nvSpPr>
          <p:cNvPr id="443" name="RxSig3"/>
          <p:cNvSpPr txBox="1">
            <a:spLocks noGrp="1"/>
          </p:cNvSpPr>
          <p:nvPr/>
        </p:nvSpPr>
        <p:spPr>
          <a:xfrm>
            <a:off x="825500" y="5283200"/>
            <a:ext cx="3124200" cy="177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/>
          </a:bodyPr>
          <a:lstStyle/>
          <a:p>
            <a:pPr algn="l">
              <a:buNone/>
            </a:pPr>
            <a:r>
              <a:rPr lang="en-US" sz="1100" b="0" dirty="0">
                <a:solidFill>
                  <a:srgbClr val="CBD5E1"/>
                </a:solidFill>
                <a:latin typeface="Inter"/>
              </a:rPr>
              <a:t>Take 4 films sublingual once daily  ·  #56</a:t>
            </a:r>
            <a:endParaRPr/>
          </a:p>
        </p:txBody>
      </p:sp>
      <p:sp>
        <p:nvSpPr>
          <p:cNvPr id="450" name="Col1Note"/>
          <p:cNvSpPr txBox="1">
            <a:spLocks noGrp="1"/>
          </p:cNvSpPr>
          <p:nvPr/>
        </p:nvSpPr>
        <p:spPr>
          <a:xfrm>
            <a:off x="736600" y="5689600"/>
            <a:ext cx="3289300" cy="279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/>
          </a:bodyPr>
          <a:lstStyle/>
          <a:p>
            <a:pPr algn="l">
              <a:buNone/>
            </a:pPr>
            <a:r>
              <a:rPr lang="en-US" sz="1200" b="0" dirty="0">
                <a:solidFill>
                  <a:srgbClr val="06B6D4"/>
                </a:solidFill>
                <a:latin typeface="Inter"/>
              </a:rPr>
              <a:t>★  2-week supply at stabilized dose</a:t>
            </a:r>
            <a:endParaRPr/>
          </a:p>
        </p:txBody>
      </p:sp>
      <p:sp>
        <p:nvSpPr>
          <p:cNvPr id="500" name="Col2Bg"/>
          <p:cNvSpPr>
            <a:spLocks noGrp="1"/>
          </p:cNvSpPr>
          <p:nvPr/>
        </p:nvSpPr>
        <p:spPr>
          <a:xfrm>
            <a:off x="4292600" y="2171700"/>
            <a:ext cx="3606800" cy="3873500"/>
          </a:xfrm>
          <a:prstGeom prst="roundRect">
            <a:avLst>
              <a:gd name="adj" fmla="val 12000"/>
            </a:avLst>
          </a:prstGeom>
          <a:solidFill>
            <a:srgbClr val="0D2137"/>
          </a:solidFill>
          <a:ln w="9144">
            <a:solidFill>
              <a:srgbClr val="06B6D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01" name="Col2Header"/>
          <p:cNvSpPr txBox="1">
            <a:spLocks noGrp="1"/>
          </p:cNvSpPr>
          <p:nvPr/>
        </p:nvSpPr>
        <p:spPr>
          <a:xfrm>
            <a:off x="4445000" y="2336800"/>
            <a:ext cx="3289300" cy="330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/>
          </a:bodyPr>
          <a:lstStyle/>
          <a:p>
            <a:pPr algn="l">
              <a:buNone/>
            </a:pPr>
            <a:r>
              <a:rPr lang="en-US" sz="1600" b="1" dirty="0">
                <a:solidFill>
                  <a:srgbClr val="06B6D4"/>
                </a:solidFill>
                <a:latin typeface="Plus Jakarta Sans"/>
              </a:rPr>
              <a:t>Naloxone Prescription</a:t>
            </a:r>
            <a:endParaRPr/>
          </a:p>
        </p:txBody>
      </p:sp>
      <p:sp>
        <p:nvSpPr>
          <p:cNvPr id="502" name="NaloxoneCard"/>
          <p:cNvSpPr>
            <a:spLocks noGrp="1"/>
          </p:cNvSpPr>
          <p:nvPr/>
        </p:nvSpPr>
        <p:spPr>
          <a:xfrm>
            <a:off x="4445000" y="2743200"/>
            <a:ext cx="3289300" cy="1130300"/>
          </a:xfrm>
          <a:prstGeom prst="roundRect">
            <a:avLst>
              <a:gd name="adj" fmla="val 8000"/>
            </a:avLst>
          </a:prstGeom>
          <a:solidFill>
            <a:srgbClr val="13224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" name="NaloxDrug"/>
          <p:cNvSpPr txBox="1">
            <a:spLocks noGrp="1"/>
          </p:cNvSpPr>
          <p:nvPr/>
        </p:nvSpPr>
        <p:spPr>
          <a:xfrm>
            <a:off x="4533900" y="2844800"/>
            <a:ext cx="312420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/>
          </a:bodyPr>
          <a:lstStyle/>
          <a:p>
            <a:pPr algn="l">
              <a:buNone/>
            </a:pPr>
            <a:r>
              <a:rPr lang="en-US" sz="1400" b="1" dirty="0">
                <a:solidFill>
                  <a:srgbClr val="F8FAFC"/>
                </a:solidFill>
                <a:latin typeface="Inter"/>
              </a:rPr>
              <a:t>Naloxone 4 mg Nasal Spray</a:t>
            </a:r>
            <a:endParaRPr/>
          </a:p>
        </p:txBody>
      </p:sp>
      <p:sp>
        <p:nvSpPr>
          <p:cNvPr id="504" name="NaloxSig"/>
          <p:cNvSpPr txBox="1">
            <a:spLocks noGrp="1"/>
          </p:cNvSpPr>
          <p:nvPr/>
        </p:nvSpPr>
        <p:spPr>
          <a:xfrm>
            <a:off x="4533900" y="3086100"/>
            <a:ext cx="312420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 fontScale="92500"/>
          </a:bodyPr>
          <a:lstStyle/>
          <a:p>
            <a:pPr algn="l">
              <a:buNone/>
            </a:pPr>
            <a:r>
              <a:rPr lang="en-US" sz="1200" b="0" dirty="0">
                <a:solidFill>
                  <a:srgbClr val="CBD5E1"/>
                </a:solidFill>
                <a:latin typeface="Inter"/>
              </a:rPr>
              <a:t>Dispense: #2 (or 1 kit of 2 pre-filled syringes)</a:t>
            </a:r>
            <a:endParaRPr/>
          </a:p>
        </p:txBody>
      </p:sp>
      <p:sp>
        <p:nvSpPr>
          <p:cNvPr id="505" name="NaloxRefill"/>
          <p:cNvSpPr txBox="1">
            <a:spLocks noGrp="1"/>
          </p:cNvSpPr>
          <p:nvPr/>
        </p:nvSpPr>
        <p:spPr>
          <a:xfrm>
            <a:off x="4533900" y="3340100"/>
            <a:ext cx="3124200" cy="203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/>
          </a:bodyPr>
          <a:lstStyle/>
          <a:p>
            <a:pPr algn="l">
              <a:buNone/>
            </a:pPr>
            <a:r>
              <a:rPr lang="en-US" sz="1200" b="0" dirty="0">
                <a:solidFill>
                  <a:srgbClr val="CBD5E1"/>
                </a:solidFill>
                <a:latin typeface="Inter"/>
              </a:rPr>
              <a:t>Sig: Use as directed for opioid overdose</a:t>
            </a:r>
            <a:endParaRPr/>
          </a:p>
        </p:txBody>
      </p:sp>
      <p:sp>
        <p:nvSpPr>
          <p:cNvPr id="506" name="NaloxRefill2"/>
          <p:cNvSpPr txBox="1">
            <a:spLocks noGrp="1"/>
          </p:cNvSpPr>
          <p:nvPr/>
        </p:nvSpPr>
        <p:spPr>
          <a:xfrm>
            <a:off x="4533900" y="3543300"/>
            <a:ext cx="3124200" cy="203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/>
          </a:bodyPr>
          <a:lstStyle/>
          <a:p>
            <a:pPr algn="l">
              <a:buNone/>
            </a:pPr>
            <a:r>
              <a:rPr lang="en-US" sz="1200" b="0" dirty="0">
                <a:solidFill>
                  <a:srgbClr val="06B6D4"/>
                </a:solidFill>
                <a:latin typeface="Inter"/>
              </a:rPr>
              <a:t>Refills: As needed</a:t>
            </a:r>
            <a:endParaRPr/>
          </a:p>
        </p:txBody>
      </p:sp>
      <p:sp>
        <p:nvSpPr>
          <p:cNvPr id="507" name="WhyCard"/>
          <p:cNvSpPr>
            <a:spLocks noGrp="1"/>
          </p:cNvSpPr>
          <p:nvPr/>
        </p:nvSpPr>
        <p:spPr>
          <a:xfrm>
            <a:off x="4445000" y="4013200"/>
            <a:ext cx="3289300" cy="1003300"/>
          </a:xfrm>
          <a:prstGeom prst="roundRect">
            <a:avLst>
              <a:gd name="adj" fmla="val 8000"/>
            </a:avLst>
          </a:prstGeom>
          <a:solidFill>
            <a:srgbClr val="0A1929"/>
          </a:solidFill>
          <a:ln w="9144">
            <a:solidFill>
              <a:srgbClr val="33415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08" name="WhyHeader"/>
          <p:cNvSpPr txBox="1">
            <a:spLocks noGrp="1"/>
          </p:cNvSpPr>
          <p:nvPr/>
        </p:nvSpPr>
        <p:spPr>
          <a:xfrm>
            <a:off x="4533900" y="4089400"/>
            <a:ext cx="312420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/>
          </a:bodyPr>
          <a:lstStyle/>
          <a:p>
            <a:pPr algn="l">
              <a:buNone/>
            </a:pPr>
            <a:r>
              <a:rPr lang="en-US" sz="1300" b="1" dirty="0">
                <a:solidFill>
                  <a:srgbClr val="CBD5E1"/>
                </a:solidFill>
                <a:latin typeface="Inter"/>
              </a:rPr>
              <a:t>Why naloxone at discharge?</a:t>
            </a:r>
            <a:endParaRPr/>
          </a:p>
        </p:txBody>
      </p:sp>
      <p:sp>
        <p:nvSpPr>
          <p:cNvPr id="509" name="WhyBody"/>
          <p:cNvSpPr txBox="1">
            <a:spLocks noGrp="1"/>
          </p:cNvSpPr>
          <p:nvPr/>
        </p:nvSpPr>
        <p:spPr>
          <a:xfrm>
            <a:off x="4533900" y="4318000"/>
            <a:ext cx="3124200" cy="647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 fontScale="77500" lnSpcReduction="20000"/>
          </a:bodyPr>
          <a:lstStyle/>
          <a:p>
            <a:pPr algn="l">
              <a:lnSpc>
                <a:spcPct val="140000"/>
              </a:lnSpc>
              <a:buNone/>
            </a:pPr>
            <a:r>
              <a:rPr lang="en-US" sz="1200" b="0" dirty="0">
                <a:solidFill>
                  <a:srgbClr val="94A3B8"/>
                </a:solidFill>
                <a:latin typeface="Inter"/>
              </a:rPr>
              <a:t>• Protects against accidental overdose during dose adjustment</a:t>
            </a:r>
            <a:endParaRPr/>
          </a:p>
          <a:p>
            <a:pPr algn="l">
              <a:lnSpc>
                <a:spcPct val="140000"/>
              </a:lnSpc>
              <a:buNone/>
            </a:pPr>
            <a:r>
              <a:rPr lang="en-US" sz="1200" b="0" dirty="0">
                <a:solidFill>
                  <a:srgbClr val="94A3B8"/>
                </a:solidFill>
                <a:latin typeface="Inter"/>
              </a:rPr>
              <a:t>• Essential safety net during transition to outpatient care</a:t>
            </a:r>
            <a:endParaRPr/>
          </a:p>
        </p:txBody>
      </p:sp>
      <p:sp>
        <p:nvSpPr>
          <p:cNvPr id="510" name="Col2Note"/>
          <p:cNvSpPr txBox="1">
            <a:spLocks noGrp="1"/>
          </p:cNvSpPr>
          <p:nvPr/>
        </p:nvSpPr>
        <p:spPr>
          <a:xfrm>
            <a:off x="4445000" y="5689600"/>
            <a:ext cx="3289300" cy="279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 fontScale="92500"/>
          </a:bodyPr>
          <a:lstStyle/>
          <a:p>
            <a:pPr algn="l">
              <a:buNone/>
            </a:pPr>
            <a:r>
              <a:rPr lang="en-US" sz="1200" b="0" dirty="0">
                <a:solidFill>
                  <a:srgbClr val="06B6D4"/>
                </a:solidFill>
                <a:latin typeface="Inter"/>
              </a:rPr>
              <a:t>★  Discharge Rx required before patient leaves</a:t>
            </a:r>
            <a:endParaRPr/>
          </a:p>
        </p:txBody>
      </p:sp>
      <p:sp>
        <p:nvSpPr>
          <p:cNvPr id="600" name="Col3Bg"/>
          <p:cNvSpPr>
            <a:spLocks noGrp="1"/>
          </p:cNvSpPr>
          <p:nvPr/>
        </p:nvSpPr>
        <p:spPr>
          <a:xfrm>
            <a:off x="8013700" y="2171700"/>
            <a:ext cx="3606800" cy="3873500"/>
          </a:xfrm>
          <a:prstGeom prst="roundRect">
            <a:avLst>
              <a:gd name="adj" fmla="val 12000"/>
            </a:avLst>
          </a:prstGeom>
          <a:solidFill>
            <a:srgbClr val="0D2137"/>
          </a:solidFill>
          <a:ln w="9144">
            <a:solidFill>
              <a:srgbClr val="06B6D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01" name="Col3Header"/>
          <p:cNvSpPr txBox="1">
            <a:spLocks noGrp="1"/>
          </p:cNvSpPr>
          <p:nvPr/>
        </p:nvSpPr>
        <p:spPr>
          <a:xfrm>
            <a:off x="8178800" y="2336800"/>
            <a:ext cx="3289300" cy="330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/>
          </a:bodyPr>
          <a:lstStyle/>
          <a:p>
            <a:pPr algn="l">
              <a:buNone/>
            </a:pPr>
            <a:r>
              <a:rPr lang="en-US" sz="1600" b="1" dirty="0">
                <a:solidFill>
                  <a:srgbClr val="06B6D4"/>
                </a:solidFill>
                <a:latin typeface="Plus Jakarta Sans"/>
              </a:rPr>
              <a:t>Linkage to Community Care</a:t>
            </a:r>
            <a:endParaRPr/>
          </a:p>
        </p:txBody>
      </p:sp>
      <p:sp>
        <p:nvSpPr>
          <p:cNvPr id="610" name="LinkCard0"/>
          <p:cNvSpPr>
            <a:spLocks noGrp="1"/>
          </p:cNvSpPr>
          <p:nvPr/>
        </p:nvSpPr>
        <p:spPr>
          <a:xfrm>
            <a:off x="8178800" y="2743200"/>
            <a:ext cx="3289300" cy="889000"/>
          </a:xfrm>
          <a:prstGeom prst="roundRect">
            <a:avLst>
              <a:gd name="adj" fmla="val 8000"/>
            </a:avLst>
          </a:prstGeom>
          <a:solidFill>
            <a:srgbClr val="13224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20" name="LinkBadge0"/>
          <p:cNvSpPr>
            <a:spLocks noGrp="1"/>
          </p:cNvSpPr>
          <p:nvPr/>
        </p:nvSpPr>
        <p:spPr>
          <a:xfrm>
            <a:off x="8267700" y="2844800"/>
            <a:ext cx="279400" cy="2794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0" name="LinkNum0"/>
          <p:cNvSpPr txBox="1">
            <a:spLocks noGrp="1"/>
          </p:cNvSpPr>
          <p:nvPr/>
        </p:nvSpPr>
        <p:spPr>
          <a:xfrm>
            <a:off x="8267700" y="2844800"/>
            <a:ext cx="279400" cy="279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/>
          </a:bodyPr>
          <a:lstStyle/>
          <a:p>
            <a:pPr algn="ctr">
              <a:buNone/>
            </a:pPr>
            <a:r>
              <a:rPr lang="en-US" sz="1300" b="1" dirty="0">
                <a:solidFill>
                  <a:srgbClr val="0D2137"/>
                </a:solidFill>
                <a:latin typeface="Plus Jakarta Sans"/>
              </a:rPr>
              <a:t>01</a:t>
            </a:r>
            <a:endParaRPr/>
          </a:p>
        </p:txBody>
      </p:sp>
      <p:sp>
        <p:nvSpPr>
          <p:cNvPr id="640" name="LinkLabel0"/>
          <p:cNvSpPr txBox="1">
            <a:spLocks noGrp="1"/>
          </p:cNvSpPr>
          <p:nvPr/>
        </p:nvSpPr>
        <p:spPr>
          <a:xfrm>
            <a:off x="8623300" y="2844800"/>
            <a:ext cx="2743200" cy="203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/>
          </a:bodyPr>
          <a:lstStyle/>
          <a:p>
            <a:pPr algn="l">
              <a:buNone/>
            </a:pPr>
            <a:r>
              <a:rPr lang="en-US" sz="1300" b="1" dirty="0">
                <a:solidFill>
                  <a:srgbClr val="F8FAFC"/>
                </a:solidFill>
                <a:latin typeface="Inter"/>
              </a:rPr>
              <a:t>Primary Care Physician</a:t>
            </a:r>
            <a:endParaRPr/>
          </a:p>
        </p:txBody>
      </p:sp>
      <p:sp>
        <p:nvSpPr>
          <p:cNvPr id="650" name="LinkBody0"/>
          <p:cNvSpPr txBox="1">
            <a:spLocks noGrp="1"/>
          </p:cNvSpPr>
          <p:nvPr/>
        </p:nvSpPr>
        <p:spPr>
          <a:xfrm>
            <a:off x="8623300" y="3086100"/>
            <a:ext cx="2743200" cy="482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 fontScale="92500"/>
          </a:bodyPr>
          <a:lstStyle/>
          <a:p>
            <a:pPr algn="l">
              <a:lnSpc>
                <a:spcPct val="130000"/>
              </a:lnSpc>
              <a:buNone/>
            </a:pPr>
            <a:r>
              <a:rPr lang="en-US" sz="1200" b="0" dirty="0">
                <a:solidFill>
                  <a:srgbClr val="CBD5E1"/>
                </a:solidFill>
                <a:latin typeface="Inter"/>
              </a:rPr>
              <a:t>Establish or resume relationship with a PCP for ongoing medical management.</a:t>
            </a:r>
            <a:endParaRPr/>
          </a:p>
        </p:txBody>
      </p:sp>
      <p:sp>
        <p:nvSpPr>
          <p:cNvPr id="611" name="LinkCard1"/>
          <p:cNvSpPr>
            <a:spLocks noGrp="1"/>
          </p:cNvSpPr>
          <p:nvPr/>
        </p:nvSpPr>
        <p:spPr>
          <a:xfrm>
            <a:off x="8178800" y="3683000"/>
            <a:ext cx="3289300" cy="889000"/>
          </a:xfrm>
          <a:prstGeom prst="roundRect">
            <a:avLst>
              <a:gd name="adj" fmla="val 8000"/>
            </a:avLst>
          </a:prstGeom>
          <a:solidFill>
            <a:srgbClr val="13224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21" name="LinkBadge1"/>
          <p:cNvSpPr>
            <a:spLocks noGrp="1"/>
          </p:cNvSpPr>
          <p:nvPr/>
        </p:nvSpPr>
        <p:spPr>
          <a:xfrm>
            <a:off x="8267700" y="3784600"/>
            <a:ext cx="279400" cy="2794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1" name="LinkNum1"/>
          <p:cNvSpPr txBox="1">
            <a:spLocks noGrp="1"/>
          </p:cNvSpPr>
          <p:nvPr/>
        </p:nvSpPr>
        <p:spPr>
          <a:xfrm>
            <a:off x="8267700" y="3784600"/>
            <a:ext cx="279400" cy="279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/>
          </a:bodyPr>
          <a:lstStyle/>
          <a:p>
            <a:pPr algn="ctr">
              <a:buNone/>
            </a:pPr>
            <a:r>
              <a:rPr lang="en-US" sz="1300" b="1" dirty="0">
                <a:solidFill>
                  <a:srgbClr val="0D2137"/>
                </a:solidFill>
                <a:latin typeface="Plus Jakarta Sans"/>
              </a:rPr>
              <a:t>02</a:t>
            </a:r>
            <a:endParaRPr/>
          </a:p>
        </p:txBody>
      </p:sp>
      <p:sp>
        <p:nvSpPr>
          <p:cNvPr id="641" name="LinkLabel1"/>
          <p:cNvSpPr txBox="1">
            <a:spLocks noGrp="1"/>
          </p:cNvSpPr>
          <p:nvPr/>
        </p:nvSpPr>
        <p:spPr>
          <a:xfrm>
            <a:off x="8623300" y="3784600"/>
            <a:ext cx="2743200" cy="203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/>
          </a:bodyPr>
          <a:lstStyle/>
          <a:p>
            <a:pPr algn="l">
              <a:buNone/>
            </a:pPr>
            <a:r>
              <a:rPr lang="en-US" sz="1300" b="1" dirty="0">
                <a:solidFill>
                  <a:srgbClr val="F8FAFC"/>
                </a:solidFill>
                <a:latin typeface="Inter"/>
              </a:rPr>
              <a:t>Outpatient Addiction Provider</a:t>
            </a:r>
            <a:endParaRPr/>
          </a:p>
        </p:txBody>
      </p:sp>
      <p:sp>
        <p:nvSpPr>
          <p:cNvPr id="651" name="LinkBody1"/>
          <p:cNvSpPr txBox="1">
            <a:spLocks noGrp="1"/>
          </p:cNvSpPr>
          <p:nvPr/>
        </p:nvSpPr>
        <p:spPr>
          <a:xfrm>
            <a:off x="8623300" y="4025900"/>
            <a:ext cx="2743200" cy="482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/>
          </a:bodyPr>
          <a:lstStyle/>
          <a:p>
            <a:pPr algn="l">
              <a:lnSpc>
                <a:spcPct val="130000"/>
              </a:lnSpc>
              <a:buNone/>
            </a:pPr>
            <a:r>
              <a:rPr lang="en-US" sz="1200" b="0" dirty="0">
                <a:solidFill>
                  <a:srgbClr val="CBD5E1"/>
                </a:solidFill>
                <a:latin typeface="Inter"/>
              </a:rPr>
              <a:t>Refer to an outpatient addiction treatment program or MAT clinic.</a:t>
            </a:r>
            <a:endParaRPr/>
          </a:p>
        </p:txBody>
      </p:sp>
      <p:sp>
        <p:nvSpPr>
          <p:cNvPr id="612" name="LinkCard2"/>
          <p:cNvSpPr>
            <a:spLocks noGrp="1"/>
          </p:cNvSpPr>
          <p:nvPr/>
        </p:nvSpPr>
        <p:spPr>
          <a:xfrm>
            <a:off x="8178800" y="4622800"/>
            <a:ext cx="3289300" cy="889000"/>
          </a:xfrm>
          <a:prstGeom prst="roundRect">
            <a:avLst>
              <a:gd name="adj" fmla="val 8000"/>
            </a:avLst>
          </a:prstGeom>
          <a:solidFill>
            <a:srgbClr val="13224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22" name="LinkBadge2"/>
          <p:cNvSpPr>
            <a:spLocks noGrp="1"/>
          </p:cNvSpPr>
          <p:nvPr/>
        </p:nvSpPr>
        <p:spPr>
          <a:xfrm>
            <a:off x="8267700" y="4724400"/>
            <a:ext cx="279400" cy="2794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2" name="LinkNum2"/>
          <p:cNvSpPr txBox="1">
            <a:spLocks noGrp="1"/>
          </p:cNvSpPr>
          <p:nvPr/>
        </p:nvSpPr>
        <p:spPr>
          <a:xfrm>
            <a:off x="8267700" y="4724400"/>
            <a:ext cx="279400" cy="279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/>
          </a:bodyPr>
          <a:lstStyle/>
          <a:p>
            <a:pPr algn="ctr">
              <a:buNone/>
            </a:pPr>
            <a:r>
              <a:rPr lang="en-US" sz="1300" b="1" dirty="0">
                <a:solidFill>
                  <a:srgbClr val="0D2137"/>
                </a:solidFill>
                <a:latin typeface="Plus Jakarta Sans"/>
              </a:rPr>
              <a:t>03</a:t>
            </a:r>
            <a:endParaRPr/>
          </a:p>
        </p:txBody>
      </p:sp>
      <p:sp>
        <p:nvSpPr>
          <p:cNvPr id="642" name="LinkLabel2"/>
          <p:cNvSpPr txBox="1">
            <a:spLocks noGrp="1"/>
          </p:cNvSpPr>
          <p:nvPr/>
        </p:nvSpPr>
        <p:spPr>
          <a:xfrm>
            <a:off x="8623300" y="4724400"/>
            <a:ext cx="2743200" cy="203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/>
          </a:bodyPr>
          <a:lstStyle/>
          <a:p>
            <a:pPr algn="l">
              <a:buNone/>
            </a:pPr>
            <a:r>
              <a:rPr lang="en-US" sz="1300" b="1" dirty="0">
                <a:solidFill>
                  <a:srgbClr val="F8FAFC"/>
                </a:solidFill>
                <a:latin typeface="Inter"/>
              </a:rPr>
              <a:t>Peer Support &amp; Recovery</a:t>
            </a:r>
            <a:endParaRPr/>
          </a:p>
        </p:txBody>
      </p:sp>
      <p:sp>
        <p:nvSpPr>
          <p:cNvPr id="652" name="LinkBody2"/>
          <p:cNvSpPr txBox="1">
            <a:spLocks noGrp="1"/>
          </p:cNvSpPr>
          <p:nvPr/>
        </p:nvSpPr>
        <p:spPr>
          <a:xfrm>
            <a:off x="8623300" y="4965700"/>
            <a:ext cx="2743200" cy="482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 fontScale="77500" lnSpcReduction="20000"/>
          </a:bodyPr>
          <a:lstStyle/>
          <a:p>
            <a:pPr algn="l">
              <a:lnSpc>
                <a:spcPct val="130000"/>
              </a:lnSpc>
              <a:buNone/>
            </a:pPr>
            <a:r>
              <a:rPr lang="en-US" sz="1200" b="0" dirty="0">
                <a:solidFill>
                  <a:srgbClr val="CBD5E1"/>
                </a:solidFill>
                <a:latin typeface="Inter"/>
              </a:rPr>
              <a:t>Narcotics Anonymous (NA), SMART Recovery, or community-based peer support groups.</a:t>
            </a:r>
            <a:endParaRPr/>
          </a:p>
        </p:txBody>
      </p:sp>
      <p:sp>
        <p:nvSpPr>
          <p:cNvPr id="660" name="Col3Note"/>
          <p:cNvSpPr txBox="1">
            <a:spLocks noGrp="1"/>
          </p:cNvSpPr>
          <p:nvPr/>
        </p:nvSpPr>
        <p:spPr>
          <a:xfrm>
            <a:off x="8178800" y="5562600"/>
            <a:ext cx="3289300" cy="279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 fontScale="92500" lnSpcReduction="20000"/>
          </a:bodyPr>
          <a:lstStyle/>
          <a:p>
            <a:pPr algn="l">
              <a:buNone/>
            </a:pPr>
            <a:r>
              <a:rPr lang="en-US" sz="1200" b="0" dirty="0">
                <a:solidFill>
                  <a:srgbClr val="06B6D4"/>
                </a:solidFill>
                <a:latin typeface="Inter"/>
              </a:rPr>
              <a:t>★  Connect before discharge — warm handoff preferred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050264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3"/>
          <p:cNvSpPr/>
          <p:nvPr/>
        </p:nvSpPr>
        <p:spPr>
          <a:xfrm>
            <a:off x="1524000" y="3771900"/>
            <a:ext cx="914400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3"/>
          <p:cNvSpPr txBox="1"/>
          <p:nvPr/>
        </p:nvSpPr>
        <p:spPr>
          <a:xfrm>
            <a:off x="1905000" y="3052762"/>
            <a:ext cx="8382000" cy="62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50" b="1" i="0" u="none" strike="noStrike" cap="none" dirty="0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Special Considerations</a:t>
            </a:r>
            <a:endParaRPr/>
          </a:p>
        </p:txBody>
      </p:sp>
      <p:sp>
        <p:nvSpPr>
          <p:cNvPr id="269" name="Google Shape;269;p23"/>
          <p:cNvSpPr txBox="1"/>
          <p:nvPr/>
        </p:nvSpPr>
        <p:spPr>
          <a:xfrm>
            <a:off x="2540000" y="3937000"/>
            <a:ext cx="7112000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Fentanyl Users  ·  Methadone  ·  Post-Naloxone  ·  Precipitated Withdrawal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5027159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Google Shape;232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1"/>
          <p:cNvSpPr txBox="1"/>
          <p:nvPr/>
        </p:nvSpPr>
        <p:spPr>
          <a:xfrm>
            <a:off x="571500" y="571500"/>
            <a:ext cx="520065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Low-Dose (Bernese) Protocol</a:t>
            </a:r>
            <a:endParaRPr/>
          </a:p>
        </p:txBody>
      </p:sp>
      <p:sp>
        <p:nvSpPr>
          <p:cNvPr id="234" name="Google Shape;234;p21"/>
          <p:cNvSpPr/>
          <p:nvPr/>
        </p:nvSpPr>
        <p:spPr>
          <a:xfrm>
            <a:off x="571500" y="1143000"/>
            <a:ext cx="495300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1"/>
          <p:cNvSpPr txBox="1"/>
          <p:nvPr/>
        </p:nvSpPr>
        <p:spPr>
          <a:xfrm>
            <a:off x="571500" y="1879600"/>
            <a:ext cx="5200650" cy="3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6B6D4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When Standard Induction Is Unsafe</a:t>
            </a:r>
            <a:endParaRPr/>
          </a:p>
        </p:txBody>
      </p:sp>
      <p:sp>
        <p:nvSpPr>
          <p:cNvPr id="237" name="Google Shape;237;p21"/>
          <p:cNvSpPr txBox="1"/>
          <p:nvPr/>
        </p:nvSpPr>
        <p:spPr>
          <a:xfrm>
            <a:off x="571500" y="2362200"/>
            <a:ext cx="4953000" cy="1038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Use when standard induction poses a high risk of precipitated withdrawal — fentanyl, methadone, or high-dose opioid pain patients.</a:t>
            </a:r>
            <a:endParaRPr/>
          </a:p>
        </p:txBody>
      </p:sp>
      <p:sp>
        <p:nvSpPr>
          <p:cNvPr id="238" name="Google Shape;238;p21"/>
          <p:cNvSpPr txBox="1"/>
          <p:nvPr/>
        </p:nvSpPr>
        <p:spPr>
          <a:xfrm>
            <a:off x="904875" y="3479800"/>
            <a:ext cx="4619625" cy="1038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Indications: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Fentanyl-positive UDS; active methadone use; high-dose opioid patients requiring a controlled taper.</a:t>
            </a:r>
            <a:endParaRPr dirty="0"/>
          </a:p>
        </p:txBody>
      </p:sp>
      <p:sp>
        <p:nvSpPr>
          <p:cNvPr id="239" name="Google Shape;239;p21"/>
          <p:cNvSpPr txBox="1"/>
          <p:nvPr/>
        </p:nvSpPr>
        <p:spPr>
          <a:xfrm>
            <a:off x="904875" y="4597400"/>
            <a:ext cx="4619625" cy="1038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Low-Dose Strategy: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Start with very small doses (0.5–2 mg) while the patient is still on a full agonist, avoiding abrupt receptor displacement.</a:t>
            </a:r>
            <a:endParaRPr dirty="0"/>
          </a:p>
        </p:txBody>
      </p:sp>
      <p:sp>
        <p:nvSpPr>
          <p:cNvPr id="240" name="Google Shape;240;p21"/>
          <p:cNvSpPr txBox="1"/>
          <p:nvPr/>
        </p:nvSpPr>
        <p:spPr>
          <a:xfrm>
            <a:off x="904875" y="5715000"/>
            <a:ext cx="4619625" cy="1038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Titration: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Titrate up over 1–3 days to 8–16 mg/day as buprenorphine gradually displaces the full agonist.</a:t>
            </a:r>
            <a:endParaRPr/>
          </a:p>
        </p:txBody>
      </p:sp>
      <p:pic>
        <p:nvPicPr>
          <p:cNvPr id="241" name="Google Shape;241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" y="350520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09600" y="4622800"/>
            <a:ext cx="1428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09600" y="574040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54E8679-F647-6FC3-98F3-6D016018BDA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72150" y="1283264"/>
            <a:ext cx="6356664" cy="4643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18488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Google Shape;248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2"/>
          <p:cNvSpPr txBox="1"/>
          <p:nvPr/>
        </p:nvSpPr>
        <p:spPr>
          <a:xfrm>
            <a:off x="685800" y="1266825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Strategy: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Administer 16 mg buprenorphine to establish receptor blockade before short-acting naloxone wears off.</a:t>
            </a:r>
            <a:endParaRPr dirty="0"/>
          </a:p>
        </p:txBody>
      </p:sp>
      <p:sp>
        <p:nvSpPr>
          <p:cNvPr id="250" name="Google Shape;250;p22"/>
          <p:cNvSpPr/>
          <p:nvPr/>
        </p:nvSpPr>
        <p:spPr>
          <a:xfrm>
            <a:off x="571500" y="4171950"/>
            <a:ext cx="11049000" cy="381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2"/>
          <p:cNvSpPr txBox="1"/>
          <p:nvPr/>
        </p:nvSpPr>
        <p:spPr>
          <a:xfrm>
            <a:off x="488632" y="4476750"/>
            <a:ext cx="348043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EF4444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Phase 1: Overdose</a:t>
            </a:r>
            <a:endParaRPr/>
          </a:p>
        </p:txBody>
      </p:sp>
      <p:sp>
        <p:nvSpPr>
          <p:cNvPr id="252" name="Google Shape;252;p22"/>
          <p:cNvSpPr txBox="1"/>
          <p:nvPr/>
        </p:nvSpPr>
        <p:spPr>
          <a:xfrm>
            <a:off x="571500" y="4953000"/>
            <a:ext cx="33147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Fentanyl floods the μ-receptors. Patient becomes apneic.</a:t>
            </a:r>
            <a:endParaRPr/>
          </a:p>
        </p:txBody>
      </p:sp>
      <p:sp>
        <p:nvSpPr>
          <p:cNvPr id="253" name="Google Shape;253;p22"/>
          <p:cNvSpPr txBox="1"/>
          <p:nvPr/>
        </p:nvSpPr>
        <p:spPr>
          <a:xfrm>
            <a:off x="4355782" y="2238375"/>
            <a:ext cx="3480435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0B98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Phase 2: Naloxone Reversal</a:t>
            </a:r>
            <a:endParaRPr/>
          </a:p>
        </p:txBody>
      </p:sp>
      <p:sp>
        <p:nvSpPr>
          <p:cNvPr id="254" name="Google Shape;254;p22"/>
          <p:cNvSpPr txBox="1"/>
          <p:nvPr/>
        </p:nvSpPr>
        <p:spPr>
          <a:xfrm>
            <a:off x="4438650" y="3048000"/>
            <a:ext cx="33147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Naloxone abruptly strips Fentanyl. Receptors empty. Acute withdrawal begins.</a:t>
            </a:r>
            <a:endParaRPr/>
          </a:p>
        </p:txBody>
      </p:sp>
      <p:sp>
        <p:nvSpPr>
          <p:cNvPr id="255" name="Google Shape;255;p22"/>
          <p:cNvSpPr txBox="1"/>
          <p:nvPr/>
        </p:nvSpPr>
        <p:spPr>
          <a:xfrm>
            <a:off x="8222932" y="4476750"/>
            <a:ext cx="348043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6B6D4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Phase 3: Bup Admin</a:t>
            </a:r>
            <a:endParaRPr/>
          </a:p>
        </p:txBody>
      </p:sp>
      <p:sp>
        <p:nvSpPr>
          <p:cNvPr id="256" name="Google Shape;256;p22"/>
          <p:cNvSpPr txBox="1"/>
          <p:nvPr/>
        </p:nvSpPr>
        <p:spPr>
          <a:xfrm>
            <a:off x="8305800" y="4953000"/>
            <a:ext cx="33147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16mg Buprenorphine replaces Naloxone before Fentanyl can return and re-sedate.</a:t>
            </a:r>
            <a:endParaRPr/>
          </a:p>
        </p:txBody>
      </p:sp>
      <p:sp>
        <p:nvSpPr>
          <p:cNvPr id="257" name="Google Shape;257;p22"/>
          <p:cNvSpPr/>
          <p:nvPr/>
        </p:nvSpPr>
        <p:spPr>
          <a:xfrm>
            <a:off x="2114550" y="407670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B1120"/>
          </a:solidFill>
          <a:ln w="38100" cap="flat" cmpd="sng">
            <a:solidFill>
              <a:srgbClr val="10B98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2"/>
          <p:cNvSpPr/>
          <p:nvPr/>
        </p:nvSpPr>
        <p:spPr>
          <a:xfrm>
            <a:off x="5981700" y="407670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B1120"/>
          </a:solidFill>
          <a:ln w="38100" cap="flat" cmpd="sng">
            <a:solidFill>
              <a:srgbClr val="10B98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2"/>
          <p:cNvSpPr/>
          <p:nvPr/>
        </p:nvSpPr>
        <p:spPr>
          <a:xfrm>
            <a:off x="9848850" y="407670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B1120"/>
          </a:solidFill>
          <a:ln w="38100" cap="flat" cmpd="sng">
            <a:solidFill>
              <a:srgbClr val="10B98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2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Post-Naloxone Buprenorphine Strategy</a:t>
            </a:r>
            <a:endParaRPr/>
          </a:p>
        </p:txBody>
      </p:sp>
      <p:sp>
        <p:nvSpPr>
          <p:cNvPr id="261" name="Google Shape;261;p22"/>
          <p:cNvSpPr/>
          <p:nvPr/>
        </p:nvSpPr>
        <p:spPr>
          <a:xfrm>
            <a:off x="571500" y="1123950"/>
            <a:ext cx="1104900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715477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4" name="Google Shape;274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176462"/>
            <a:ext cx="5286375" cy="355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176462"/>
            <a:ext cx="5286375" cy="355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4"/>
          <p:cNvSpPr txBox="1"/>
          <p:nvPr/>
        </p:nvSpPr>
        <p:spPr>
          <a:xfrm>
            <a:off x="914400" y="2519362"/>
            <a:ext cx="4830603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6B6D4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Undertreated Withdrawal</a:t>
            </a:r>
            <a:endParaRPr/>
          </a:p>
        </p:txBody>
      </p:sp>
      <p:sp>
        <p:nvSpPr>
          <p:cNvPr id="278" name="Google Shape;278;p24"/>
          <p:cNvSpPr txBox="1"/>
          <p:nvPr/>
        </p:nvSpPr>
        <p:spPr>
          <a:xfrm>
            <a:off x="914400" y="2995612"/>
            <a:ext cx="46005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Dose was insufficient to saturate receptors.</a:t>
            </a:r>
            <a:endParaRPr/>
          </a:p>
        </p:txBody>
      </p:sp>
      <p:sp>
        <p:nvSpPr>
          <p:cNvPr id="279" name="Google Shape;279;p24"/>
          <p:cNvSpPr txBox="1"/>
          <p:nvPr/>
        </p:nvSpPr>
        <p:spPr>
          <a:xfrm>
            <a:off x="6677025" y="2519362"/>
            <a:ext cx="4830603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EF4444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Precipitated Withdrawal</a:t>
            </a:r>
            <a:endParaRPr/>
          </a:p>
        </p:txBody>
      </p:sp>
      <p:sp>
        <p:nvSpPr>
          <p:cNvPr id="280" name="Google Shape;280;p24"/>
          <p:cNvSpPr txBox="1"/>
          <p:nvPr/>
        </p:nvSpPr>
        <p:spPr>
          <a:xfrm>
            <a:off x="6677025" y="2995612"/>
            <a:ext cx="46005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Buprenorphine forcefully displaced a full agonist.</a:t>
            </a:r>
            <a:endParaRPr/>
          </a:p>
        </p:txBody>
      </p:sp>
      <p:sp>
        <p:nvSpPr>
          <p:cNvPr id="281" name="Google Shape;281;p24"/>
          <p:cNvSpPr txBox="1"/>
          <p:nvPr/>
        </p:nvSpPr>
        <p:spPr>
          <a:xfrm>
            <a:off x="1485900" y="3424237"/>
            <a:ext cx="40290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Timing: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Gradual lack of improvement (45-60 mins).</a:t>
            </a:r>
            <a:endParaRPr/>
          </a:p>
        </p:txBody>
      </p:sp>
      <p:sp>
        <p:nvSpPr>
          <p:cNvPr id="282" name="Google Shape;282;p24"/>
          <p:cNvSpPr txBox="1"/>
          <p:nvPr/>
        </p:nvSpPr>
        <p:spPr>
          <a:xfrm>
            <a:off x="1485900" y="4167187"/>
            <a:ext cx="40290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Symptoms: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Persistent baseline COWS symptoms.</a:t>
            </a:r>
            <a:endParaRPr/>
          </a:p>
        </p:txBody>
      </p:sp>
      <p:sp>
        <p:nvSpPr>
          <p:cNvPr id="283" name="Google Shape;283;p24"/>
          <p:cNvSpPr txBox="1"/>
          <p:nvPr/>
        </p:nvSpPr>
        <p:spPr>
          <a:xfrm>
            <a:off x="1485900" y="4910137"/>
            <a:ext cx="40290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Action: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Give more Buprenorphine.</a:t>
            </a:r>
            <a:endParaRPr/>
          </a:p>
        </p:txBody>
      </p:sp>
      <p:sp>
        <p:nvSpPr>
          <p:cNvPr id="284" name="Google Shape;284;p24"/>
          <p:cNvSpPr txBox="1"/>
          <p:nvPr/>
        </p:nvSpPr>
        <p:spPr>
          <a:xfrm>
            <a:off x="7248525" y="3424237"/>
            <a:ext cx="40290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Timing: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Abrupt, violent onset (10-15 mins).</a:t>
            </a:r>
            <a:endParaRPr/>
          </a:p>
        </p:txBody>
      </p:sp>
      <p:sp>
        <p:nvSpPr>
          <p:cNvPr id="285" name="Google Shape;285;p24"/>
          <p:cNvSpPr txBox="1"/>
          <p:nvPr/>
        </p:nvSpPr>
        <p:spPr>
          <a:xfrm>
            <a:off x="7248525" y="3881437"/>
            <a:ext cx="40290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Symptoms: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Exploding COWS score, severe agitation, N/V.</a:t>
            </a:r>
            <a:endParaRPr/>
          </a:p>
        </p:txBody>
      </p:sp>
      <p:sp>
        <p:nvSpPr>
          <p:cNvPr id="286" name="Google Shape;286;p24"/>
          <p:cNvSpPr txBox="1"/>
          <p:nvPr/>
        </p:nvSpPr>
        <p:spPr>
          <a:xfrm>
            <a:off x="7248525" y="4624387"/>
            <a:ext cx="40290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Action: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Trigger 90-Minute Bundle.</a:t>
            </a:r>
            <a:endParaRPr/>
          </a:p>
        </p:txBody>
      </p:sp>
      <p:pic>
        <p:nvPicPr>
          <p:cNvPr id="287" name="Google Shape;287;p2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52525" y="345757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152525" y="4200525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2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152525" y="4943475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2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915150" y="345757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24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915150" y="3914775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24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915150" y="4657725"/>
            <a:ext cx="23812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24"/>
          <p:cNvSpPr txBox="1"/>
          <p:nvPr/>
        </p:nvSpPr>
        <p:spPr>
          <a:xfrm>
            <a:off x="571500" y="476250"/>
            <a:ext cx="116014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Precipitated Withdrawal: Recognition</a:t>
            </a:r>
            <a:endParaRPr/>
          </a:p>
        </p:txBody>
      </p:sp>
      <p:sp>
        <p:nvSpPr>
          <p:cNvPr id="294" name="Google Shape;294;p24"/>
          <p:cNvSpPr/>
          <p:nvPr/>
        </p:nvSpPr>
        <p:spPr>
          <a:xfrm>
            <a:off x="571500" y="1123950"/>
            <a:ext cx="1104900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918702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9" name="Google Shape;299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081212"/>
            <a:ext cx="3492549" cy="195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081212"/>
            <a:ext cx="3492549" cy="195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2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081212"/>
            <a:ext cx="3492549" cy="1952625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25"/>
          <p:cNvSpPr txBox="1"/>
          <p:nvPr/>
        </p:nvSpPr>
        <p:spPr>
          <a:xfrm>
            <a:off x="866775" y="2405062"/>
            <a:ext cx="3047099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6B6D4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Time Zero</a:t>
            </a:r>
            <a:endParaRPr/>
          </a:p>
        </p:txBody>
      </p:sp>
      <p:sp>
        <p:nvSpPr>
          <p:cNvPr id="304" name="Google Shape;304;p25"/>
          <p:cNvSpPr txBox="1"/>
          <p:nvPr/>
        </p:nvSpPr>
        <p:spPr>
          <a:xfrm>
            <a:off x="866775" y="2881312"/>
            <a:ext cx="2901999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16 mg Buprenorphine SL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+ 2 mg Lorazepam PO/IV</a:t>
            </a:r>
            <a:endParaRPr/>
          </a:p>
        </p:txBody>
      </p:sp>
      <p:sp>
        <p:nvSpPr>
          <p:cNvPr id="305" name="Google Shape;305;p25"/>
          <p:cNvSpPr txBox="1"/>
          <p:nvPr/>
        </p:nvSpPr>
        <p:spPr>
          <a:xfrm>
            <a:off x="4645074" y="2405062"/>
            <a:ext cx="3047099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6B6D4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30 Mins (Reassess)</a:t>
            </a:r>
            <a:endParaRPr/>
          </a:p>
        </p:txBody>
      </p:sp>
      <p:sp>
        <p:nvSpPr>
          <p:cNvPr id="306" name="Google Shape;306;p25"/>
          <p:cNvSpPr txBox="1"/>
          <p:nvPr/>
        </p:nvSpPr>
        <p:spPr>
          <a:xfrm>
            <a:off x="4645074" y="2881312"/>
            <a:ext cx="2901999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If worsening, give another </a:t>
            </a: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16 mg Buprenorphine SL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307" name="Google Shape;307;p25"/>
          <p:cNvSpPr txBox="1"/>
          <p:nvPr/>
        </p:nvSpPr>
        <p:spPr>
          <a:xfrm>
            <a:off x="8423374" y="2405062"/>
            <a:ext cx="3047099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6B6D4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60-90 Mins</a:t>
            </a:r>
            <a:endParaRPr/>
          </a:p>
        </p:txBody>
      </p:sp>
      <p:sp>
        <p:nvSpPr>
          <p:cNvPr id="308" name="Google Shape;308;p25"/>
          <p:cNvSpPr txBox="1"/>
          <p:nvPr/>
        </p:nvSpPr>
        <p:spPr>
          <a:xfrm>
            <a:off x="8423374" y="2881312"/>
            <a:ext cx="2901999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Do not stack benzos. Use additional Bup, Ketamine, or Haloperidol.</a:t>
            </a:r>
            <a:endParaRPr/>
          </a:p>
        </p:txBody>
      </p:sp>
      <p:sp>
        <p:nvSpPr>
          <p:cNvPr id="309" name="Google Shape;309;p25"/>
          <p:cNvSpPr txBox="1"/>
          <p:nvPr/>
        </p:nvSpPr>
        <p:spPr>
          <a:xfrm>
            <a:off x="2143125" y="4319587"/>
            <a:ext cx="82391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KEY RULE: DO NOT STOP BUPRENORPHINE.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The fastest way out is through. Flood the receptors to maximize the partial agonist effect.</a:t>
            </a:r>
            <a:endParaRPr/>
          </a:p>
        </p:txBody>
      </p:sp>
      <p:sp>
        <p:nvSpPr>
          <p:cNvPr id="310" name="Google Shape;310;p25"/>
          <p:cNvSpPr txBox="1"/>
          <p:nvPr/>
        </p:nvSpPr>
        <p:spPr>
          <a:xfrm>
            <a:off x="2143125" y="5062537"/>
            <a:ext cx="82391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Expert Support: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Consult Toxicology, Psychiatry, or Addiction Medicine for assistance with refractory symptoms.</a:t>
            </a:r>
            <a:endParaRPr/>
          </a:p>
        </p:txBody>
      </p:sp>
      <p:pic>
        <p:nvPicPr>
          <p:cNvPr id="311" name="Google Shape;311;p2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809750" y="435292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2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809750" y="5095875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25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EF444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90-Minute Red Zone Bundle</a:t>
            </a:r>
            <a:endParaRPr/>
          </a:p>
        </p:txBody>
      </p:sp>
      <p:sp>
        <p:nvSpPr>
          <p:cNvPr id="314" name="Google Shape;314;p25"/>
          <p:cNvSpPr/>
          <p:nvPr/>
        </p:nvSpPr>
        <p:spPr>
          <a:xfrm>
            <a:off x="571500" y="1123950"/>
            <a:ext cx="1104900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pied Picture 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itle"/>
          <p:cNvSpPr txBox="1"/>
          <p:nvPr/>
        </p:nvSpPr>
        <p:spPr>
          <a:xfrm>
            <a:off x="571500" y="482600"/>
            <a:ext cx="11607800" cy="520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Clinical Summary</a:t>
            </a:r>
            <a:endParaRPr/>
          </a:p>
        </p:txBody>
      </p:sp>
      <p:sp>
        <p:nvSpPr>
          <p:cNvPr id="11" name="Rule"/>
          <p:cNvSpPr/>
          <p:nvPr/>
        </p:nvSpPr>
        <p:spPr>
          <a:xfrm>
            <a:off x="571500" y="1130300"/>
            <a:ext cx="11049000" cy="254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Subtitle"/>
          <p:cNvSpPr txBox="1"/>
          <p:nvPr/>
        </p:nvSpPr>
        <p:spPr>
          <a:xfrm>
            <a:off x="571500" y="1371600"/>
            <a:ext cx="11049000" cy="317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Five things to take with you from the didactic portion</a:t>
            </a:r>
            <a:endParaRPr/>
          </a:p>
        </p:txBody>
      </p:sp>
      <p:sp>
        <p:nvSpPr>
          <p:cNvPr id="20" name="CardBg0"/>
          <p:cNvSpPr/>
          <p:nvPr/>
        </p:nvSpPr>
        <p:spPr>
          <a:xfrm>
            <a:off x="571500" y="1879600"/>
            <a:ext cx="11049000" cy="8636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Num0"/>
          <p:cNvSpPr txBox="1"/>
          <p:nvPr/>
        </p:nvSpPr>
        <p:spPr>
          <a:xfrm>
            <a:off x="736600" y="1981200"/>
            <a:ext cx="508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06B6D4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1</a:t>
            </a:r>
            <a:endParaRPr/>
          </a:p>
        </p:txBody>
      </p:sp>
      <p:sp>
        <p:nvSpPr>
          <p:cNvPr id="22" name="CardTitle0"/>
          <p:cNvSpPr txBox="1"/>
          <p:nvPr/>
        </p:nvSpPr>
        <p:spPr>
          <a:xfrm>
            <a:off x="1371600" y="2006600"/>
            <a:ext cx="10033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8FAFC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Buprenorphine is safe to start in the ED</a:t>
            </a:r>
            <a:endParaRPr/>
          </a:p>
        </p:txBody>
      </p:sp>
      <p:sp>
        <p:nvSpPr>
          <p:cNvPr id="23" name="CardDesc0"/>
          <p:cNvSpPr txBox="1"/>
          <p:nvPr/>
        </p:nvSpPr>
        <p:spPr>
          <a:xfrm>
            <a:off x="1371600" y="2324100"/>
            <a:ext cx="10033000" cy="317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Partial agonist with a ceiling effect. Any DEA-licensed provider can prescribe — the X-waiver is gone.</a:t>
            </a:r>
            <a:endParaRPr/>
          </a:p>
        </p:txBody>
      </p:sp>
      <p:sp>
        <p:nvSpPr>
          <p:cNvPr id="30" name="CardBg1"/>
          <p:cNvSpPr/>
          <p:nvPr/>
        </p:nvSpPr>
        <p:spPr>
          <a:xfrm>
            <a:off x="571500" y="2844800"/>
            <a:ext cx="11049000" cy="8636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" name="Num1"/>
          <p:cNvSpPr txBox="1"/>
          <p:nvPr/>
        </p:nvSpPr>
        <p:spPr>
          <a:xfrm>
            <a:off x="736600" y="2946400"/>
            <a:ext cx="508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06B6D4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2</a:t>
            </a:r>
            <a:endParaRPr/>
          </a:p>
        </p:txBody>
      </p:sp>
      <p:sp>
        <p:nvSpPr>
          <p:cNvPr id="32" name="CardTitle1"/>
          <p:cNvSpPr txBox="1"/>
          <p:nvPr/>
        </p:nvSpPr>
        <p:spPr>
          <a:xfrm>
            <a:off x="1371600" y="2971800"/>
            <a:ext cx="10033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F8FAFC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Use COWS &gt;12 as a guide, not gospel</a:t>
            </a:r>
            <a:endParaRPr dirty="0"/>
          </a:p>
        </p:txBody>
      </p:sp>
      <p:sp>
        <p:nvSpPr>
          <p:cNvPr id="33" name="CardDesc1"/>
          <p:cNvSpPr txBox="1"/>
          <p:nvPr/>
        </p:nvSpPr>
        <p:spPr>
          <a:xfrm>
            <a:off x="1371600" y="3289300"/>
            <a:ext cx="10033000" cy="317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Fentanyl’s lipophilicity means depot stores can persist even at high COWS scores. Clinical judgment leads.</a:t>
            </a:r>
            <a:endParaRPr/>
          </a:p>
        </p:txBody>
      </p:sp>
      <p:sp>
        <p:nvSpPr>
          <p:cNvPr id="40" name="CardBg2"/>
          <p:cNvSpPr/>
          <p:nvPr/>
        </p:nvSpPr>
        <p:spPr>
          <a:xfrm>
            <a:off x="571500" y="3810000"/>
            <a:ext cx="11049000" cy="8636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1" name="Num2"/>
          <p:cNvSpPr txBox="1"/>
          <p:nvPr/>
        </p:nvSpPr>
        <p:spPr>
          <a:xfrm>
            <a:off x="736600" y="3911600"/>
            <a:ext cx="508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06B6D4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3</a:t>
            </a:r>
            <a:endParaRPr/>
          </a:p>
        </p:txBody>
      </p:sp>
      <p:sp>
        <p:nvSpPr>
          <p:cNvPr id="42" name="CardTitle2"/>
          <p:cNvSpPr txBox="1"/>
          <p:nvPr/>
        </p:nvSpPr>
        <p:spPr>
          <a:xfrm>
            <a:off x="1371600" y="3937000"/>
            <a:ext cx="10033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8FAFC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Standard vs. rapid induction — know both pathways</a:t>
            </a:r>
            <a:endParaRPr/>
          </a:p>
        </p:txBody>
      </p:sp>
      <p:sp>
        <p:nvSpPr>
          <p:cNvPr id="43" name="CardDesc2"/>
          <p:cNvSpPr txBox="1"/>
          <p:nvPr/>
        </p:nvSpPr>
        <p:spPr>
          <a:xfrm>
            <a:off x="1371600" y="4254500"/>
            <a:ext cx="10033000" cy="317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Standard: 4 mg SL, then 4 mg PRN q1h. Rapid (ED/ICU): 8 mg SL, then 8 mg PRN until COWS ≤ 4. Titrate to comfort.</a:t>
            </a:r>
            <a:endParaRPr/>
          </a:p>
        </p:txBody>
      </p:sp>
      <p:sp>
        <p:nvSpPr>
          <p:cNvPr id="50" name="CardBg3"/>
          <p:cNvSpPr/>
          <p:nvPr/>
        </p:nvSpPr>
        <p:spPr>
          <a:xfrm>
            <a:off x="571500" y="4775200"/>
            <a:ext cx="11049000" cy="8636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1" name="Num3"/>
          <p:cNvSpPr txBox="1"/>
          <p:nvPr/>
        </p:nvSpPr>
        <p:spPr>
          <a:xfrm>
            <a:off x="736600" y="4876800"/>
            <a:ext cx="508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06B6D4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4</a:t>
            </a:r>
            <a:endParaRPr/>
          </a:p>
        </p:txBody>
      </p:sp>
      <p:sp>
        <p:nvSpPr>
          <p:cNvPr id="52" name="CardTitle3"/>
          <p:cNvSpPr txBox="1"/>
          <p:nvPr/>
        </p:nvSpPr>
        <p:spPr>
          <a:xfrm>
            <a:off x="1371600" y="4902200"/>
            <a:ext cx="10033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8FAFC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Precipitated withdrawal is treatable, not catastrophic</a:t>
            </a:r>
            <a:endParaRPr/>
          </a:p>
        </p:txBody>
      </p:sp>
      <p:sp>
        <p:nvSpPr>
          <p:cNvPr id="53" name="CardDesc3"/>
          <p:cNvSpPr txBox="1"/>
          <p:nvPr/>
        </p:nvSpPr>
        <p:spPr>
          <a:xfrm>
            <a:off x="1371600" y="5219700"/>
            <a:ext cx="10033000" cy="317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Abrupt onset in 10–15 min with exploding COWS. Trigger the 90-minute bundle: give more buprenorphine, not less.</a:t>
            </a:r>
            <a:endParaRPr/>
          </a:p>
        </p:txBody>
      </p:sp>
      <p:sp>
        <p:nvSpPr>
          <p:cNvPr id="60" name="CardBg4"/>
          <p:cNvSpPr/>
          <p:nvPr/>
        </p:nvSpPr>
        <p:spPr>
          <a:xfrm>
            <a:off x="571500" y="5740400"/>
            <a:ext cx="11049000" cy="8636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1" name="Num4"/>
          <p:cNvSpPr txBox="1"/>
          <p:nvPr/>
        </p:nvSpPr>
        <p:spPr>
          <a:xfrm>
            <a:off x="736600" y="5842000"/>
            <a:ext cx="508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06B6D4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5</a:t>
            </a:r>
            <a:endParaRPr/>
          </a:p>
        </p:txBody>
      </p:sp>
      <p:sp>
        <p:nvSpPr>
          <p:cNvPr id="62" name="CardTitle4"/>
          <p:cNvSpPr txBox="1"/>
          <p:nvPr/>
        </p:nvSpPr>
        <p:spPr>
          <a:xfrm>
            <a:off x="1371600" y="5867400"/>
            <a:ext cx="10033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8FAFC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Discharge with a 2-week supply and community linkage</a:t>
            </a:r>
            <a:endParaRPr/>
          </a:p>
        </p:txBody>
      </p:sp>
      <p:sp>
        <p:nvSpPr>
          <p:cNvPr id="63" name="CardDesc4"/>
          <p:cNvSpPr txBox="1"/>
          <p:nvPr/>
        </p:nvSpPr>
        <p:spPr>
          <a:xfrm>
            <a:off x="1371600" y="6184900"/>
            <a:ext cx="10033000" cy="317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Prescribe 16 mg daily × 14 days (28 films). Always co-prescribe naloxone. Link to PCP and outpatient addiction treatment.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4155714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4" name="Google Shape;354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00287"/>
            <a:ext cx="3492549" cy="258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2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300287"/>
            <a:ext cx="3492549" cy="258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p2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300287"/>
            <a:ext cx="3492549" cy="2581275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28"/>
          <p:cNvSpPr txBox="1"/>
          <p:nvPr/>
        </p:nvSpPr>
        <p:spPr>
          <a:xfrm>
            <a:off x="571500" y="5262562"/>
            <a:ext cx="11049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6B6D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We know the rules. But are we comfortable executing them?</a:t>
            </a:r>
            <a:endParaRPr/>
          </a:p>
        </p:txBody>
      </p:sp>
      <p:sp>
        <p:nvSpPr>
          <p:cNvPr id="359" name="Google Shape;359;p28"/>
          <p:cNvSpPr txBox="1"/>
          <p:nvPr/>
        </p:nvSpPr>
        <p:spPr>
          <a:xfrm>
            <a:off x="866775" y="3252787"/>
            <a:ext cx="3047099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6B6D4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The ED is the Point</a:t>
            </a:r>
            <a:endParaRPr/>
          </a:p>
        </p:txBody>
      </p:sp>
      <p:sp>
        <p:nvSpPr>
          <p:cNvPr id="360" name="Google Shape;360;p28"/>
          <p:cNvSpPr txBox="1"/>
          <p:nvPr/>
        </p:nvSpPr>
        <p:spPr>
          <a:xfrm>
            <a:off x="866775" y="3729037"/>
            <a:ext cx="2901999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Emergency Department is the definitive intervention point, not a holding area.</a:t>
            </a:r>
            <a:endParaRPr/>
          </a:p>
        </p:txBody>
      </p:sp>
      <p:sp>
        <p:nvSpPr>
          <p:cNvPr id="361" name="Google Shape;361;p28"/>
          <p:cNvSpPr txBox="1"/>
          <p:nvPr/>
        </p:nvSpPr>
        <p:spPr>
          <a:xfrm>
            <a:off x="4645074" y="3252787"/>
            <a:ext cx="3047099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6B6D4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Respect the Receptor</a:t>
            </a:r>
            <a:endParaRPr/>
          </a:p>
        </p:txBody>
      </p:sp>
      <p:sp>
        <p:nvSpPr>
          <p:cNvPr id="362" name="Google Shape;362;p28"/>
          <p:cNvSpPr txBox="1"/>
          <p:nvPr/>
        </p:nvSpPr>
        <p:spPr>
          <a:xfrm>
            <a:off x="4645074" y="3729037"/>
            <a:ext cx="2901999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Wait for objective withdrawal (COWS &gt; 12 + 2 signs).</a:t>
            </a:r>
            <a:endParaRPr dirty="0"/>
          </a:p>
        </p:txBody>
      </p:sp>
      <p:sp>
        <p:nvSpPr>
          <p:cNvPr id="363" name="Google Shape;363;p28"/>
          <p:cNvSpPr txBox="1"/>
          <p:nvPr/>
        </p:nvSpPr>
        <p:spPr>
          <a:xfrm>
            <a:off x="8423374" y="3252787"/>
            <a:ext cx="3047099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6B6D4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Push Through PW</a:t>
            </a:r>
            <a:endParaRPr/>
          </a:p>
        </p:txBody>
      </p:sp>
      <p:sp>
        <p:nvSpPr>
          <p:cNvPr id="364" name="Google Shape;364;p28"/>
          <p:cNvSpPr txBox="1"/>
          <p:nvPr/>
        </p:nvSpPr>
        <p:spPr>
          <a:xfrm>
            <a:off x="8423374" y="3729037"/>
            <a:ext cx="2901999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Dose with confidence (8mg, reassess, 8mg). If PW occurs, escalate Buprenorphine.</a:t>
            </a:r>
            <a:endParaRPr/>
          </a:p>
        </p:txBody>
      </p:sp>
      <p:pic>
        <p:nvPicPr>
          <p:cNvPr id="365" name="Google Shape;365;p2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6775" y="2633662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6" name="Google Shape;366;p2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45074" y="2633662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7" name="Google Shape;367;p2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23374" y="2633662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28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Final Heuristics</a:t>
            </a:r>
            <a:endParaRPr/>
          </a:p>
        </p:txBody>
      </p:sp>
      <p:sp>
        <p:nvSpPr>
          <p:cNvPr id="369" name="Google Shape;369;p28"/>
          <p:cNvSpPr/>
          <p:nvPr/>
        </p:nvSpPr>
        <p:spPr>
          <a:xfrm>
            <a:off x="571500" y="1123950"/>
            <a:ext cx="1104900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4" name="Google Shape;374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29"/>
          <p:cNvSpPr txBox="1"/>
          <p:nvPr/>
        </p:nvSpPr>
        <p:spPr>
          <a:xfrm>
            <a:off x="295275" y="5191125"/>
            <a:ext cx="1160145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10B98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What if you could practice induction before they walk through the door?</a:t>
            </a:r>
            <a:endParaRPr dirty="0"/>
          </a:p>
        </p:txBody>
      </p:sp>
      <p:sp>
        <p:nvSpPr>
          <p:cNvPr id="376" name="Google Shape;376;p29"/>
          <p:cNvSpPr txBox="1"/>
          <p:nvPr/>
        </p:nvSpPr>
        <p:spPr>
          <a:xfrm>
            <a:off x="2948136" y="2238375"/>
            <a:ext cx="6295578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F8FAFC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Didactic learning ≠ real-world skill.</a:t>
            </a:r>
            <a:endParaRPr/>
          </a:p>
        </p:txBody>
      </p:sp>
      <p:sp>
        <p:nvSpPr>
          <p:cNvPr id="377" name="Google Shape;377;p29"/>
          <p:cNvSpPr txBox="1"/>
          <p:nvPr/>
        </p:nvSpPr>
        <p:spPr>
          <a:xfrm>
            <a:off x="2619375" y="3305175"/>
            <a:ext cx="72866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True Barriers: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We under-screen due to time constraints, workflow issues, and simply </a:t>
            </a:r>
            <a:r>
              <a:rPr lang="en-US" sz="1500" b="0" i="1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feeling awkward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initiating the conversation.</a:t>
            </a:r>
            <a:endParaRPr/>
          </a:p>
        </p:txBody>
      </p:sp>
      <p:sp>
        <p:nvSpPr>
          <p:cNvPr id="378" name="Google Shape;378;p29"/>
          <p:cNvSpPr txBox="1"/>
          <p:nvPr/>
        </p:nvSpPr>
        <p:spPr>
          <a:xfrm>
            <a:off x="2619375" y="4048125"/>
            <a:ext cx="72866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High-Stakes Fear: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Fear of precipitated withdrawal is a massive barrier with no easy way to practice.</a:t>
            </a:r>
            <a:endParaRPr/>
          </a:p>
        </p:txBody>
      </p:sp>
      <p:pic>
        <p:nvPicPr>
          <p:cNvPr id="379" name="Google Shape;379;p2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86000" y="3338512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0" name="Google Shape;380;p2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286000" y="4081462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29"/>
          <p:cNvSpPr txBox="1"/>
          <p:nvPr/>
        </p:nvSpPr>
        <p:spPr>
          <a:xfrm>
            <a:off x="571500" y="476250"/>
            <a:ext cx="116014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From Protocol to Practice</a:t>
            </a:r>
            <a:endParaRPr/>
          </a:p>
        </p:txBody>
      </p:sp>
      <p:sp>
        <p:nvSpPr>
          <p:cNvPr id="382" name="Google Shape;382;p29"/>
          <p:cNvSpPr/>
          <p:nvPr/>
        </p:nvSpPr>
        <p:spPr>
          <a:xfrm>
            <a:off x="571500" y="1123950"/>
            <a:ext cx="1104900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629043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7" name="Google Shape;387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30"/>
          <p:cNvSpPr txBox="1"/>
          <p:nvPr/>
        </p:nvSpPr>
        <p:spPr>
          <a:xfrm>
            <a:off x="571500" y="457200"/>
            <a:ext cx="5200650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Introduction to BupSim</a:t>
            </a:r>
            <a:endParaRPr/>
          </a:p>
        </p:txBody>
      </p:sp>
      <p:sp>
        <p:nvSpPr>
          <p:cNvPr id="389" name="Google Shape;389;p30"/>
          <p:cNvSpPr/>
          <p:nvPr/>
        </p:nvSpPr>
        <p:spPr>
          <a:xfrm>
            <a:off x="571500" y="1130300"/>
            <a:ext cx="4953000" cy="25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30"/>
          <p:cNvSpPr txBox="1"/>
          <p:nvPr/>
        </p:nvSpPr>
        <p:spPr>
          <a:xfrm>
            <a:off x="571500" y="1371600"/>
            <a:ext cx="5200650" cy="3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6B6D4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Meet Maria Torres, 32F</a:t>
            </a:r>
            <a:endParaRPr/>
          </a:p>
        </p:txBody>
      </p:sp>
      <p:sp>
        <p:nvSpPr>
          <p:cNvPr id="392" name="Google Shape;392;p30"/>
          <p:cNvSpPr txBox="1"/>
          <p:nvPr/>
        </p:nvSpPr>
        <p:spPr>
          <a:xfrm>
            <a:off x="571500" y="1828800"/>
            <a:ext cx="5207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Brought in by EMS after a naloxone-reversed oxycodone overdose.</a:t>
            </a:r>
            <a:endParaRPr/>
          </a:p>
        </p:txBody>
      </p:sp>
      <p:sp>
        <p:nvSpPr>
          <p:cNvPr id="393" name="Google Shape;393;p30"/>
          <p:cNvSpPr txBox="1"/>
          <p:nvPr/>
        </p:nvSpPr>
        <p:spPr>
          <a:xfrm>
            <a:off x="901700" y="2857500"/>
            <a:ext cx="4622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Virtual Simulation: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 web-based, AI-driven virtual patient simulator.</a:t>
            </a:r>
            <a:endParaRPr/>
          </a:p>
        </p:txBody>
      </p:sp>
      <p:sp>
        <p:nvSpPr>
          <p:cNvPr id="394" name="Google Shape;394;p30"/>
          <p:cNvSpPr txBox="1"/>
          <p:nvPr/>
        </p:nvSpPr>
        <p:spPr>
          <a:xfrm>
            <a:off x="901700" y="5207000"/>
            <a:ext cx="4622800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End-to-End Care: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BupSim guides you through her full buprenorphine induction case from ED arrival to discharge.</a:t>
            </a:r>
            <a:endParaRPr/>
          </a:p>
        </p:txBody>
      </p:sp>
      <p:pic>
        <p:nvPicPr>
          <p:cNvPr id="395" name="Google Shape;395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895600"/>
            <a:ext cx="241300" cy="20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6" name="Google Shape;396;p3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5245100"/>
            <a:ext cx="215900" cy="20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DE02B0B-058C-E602-D839-D7B642FB8A8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9389" r="22441"/>
          <a:stretch>
            <a:fillRect/>
          </a:stretch>
        </p:blipFill>
        <p:spPr>
          <a:xfrm>
            <a:off x="6470692" y="1095375"/>
            <a:ext cx="4622757" cy="443552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F0B6A68-5F52-E641-973C-9C7F8C6F6754}"/>
              </a:ext>
            </a:extLst>
          </p:cNvPr>
          <p:cNvSpPr txBox="1"/>
          <p:nvPr/>
        </p:nvSpPr>
        <p:spPr>
          <a:xfrm>
            <a:off x="901700" y="3886200"/>
            <a:ext cx="4622800" cy="74385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Mobile-Optimized: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 touch &amp; voice-enabled webapp — runs on iPad, iPhone, and desktop.</a:t>
            </a:r>
            <a:endParaRPr/>
          </a:p>
        </p:txBody>
      </p:sp>
      <p:pic>
        <p:nvPicPr>
          <p:cNvPr id="397" name="Graphic 397" descr="Smartphone icon for Mobile-Optimized bullet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2300" y="3898900"/>
            <a:ext cx="152400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0801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1" name="Google Shape;401;p3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31"/>
          <p:cNvSpPr txBox="1"/>
          <p:nvPr/>
        </p:nvSpPr>
        <p:spPr>
          <a:xfrm>
            <a:off x="6667500" y="571500"/>
            <a:ext cx="52006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Conversing with </a:t>
            </a:r>
            <a:r>
              <a:rPr lang="en-US" sz="3150" b="1" dirty="0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Maria</a:t>
            </a:r>
            <a:endParaRPr dirty="0"/>
          </a:p>
        </p:txBody>
      </p:sp>
      <p:sp>
        <p:nvSpPr>
          <p:cNvPr id="404" name="Google Shape;404;p31"/>
          <p:cNvSpPr/>
          <p:nvPr/>
        </p:nvSpPr>
        <p:spPr>
          <a:xfrm>
            <a:off x="6667500" y="1219200"/>
            <a:ext cx="495300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31"/>
          <p:cNvSpPr txBox="1"/>
          <p:nvPr/>
        </p:nvSpPr>
        <p:spPr>
          <a:xfrm>
            <a:off x="6667500" y="1371600"/>
            <a:ext cx="5200650" cy="3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0B98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Practice the Conversation</a:t>
            </a:r>
            <a:endParaRPr/>
          </a:p>
        </p:txBody>
      </p:sp>
      <p:sp>
        <p:nvSpPr>
          <p:cNvPr id="406" name="Google Shape;406;p31"/>
          <p:cNvSpPr txBox="1"/>
          <p:nvPr/>
        </p:nvSpPr>
        <p:spPr>
          <a:xfrm>
            <a:off x="7000875" y="1854200"/>
            <a:ext cx="4619625" cy="6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CBD5E1"/>
                </a:solidFill>
                <a:latin typeface="Inter"/>
              </a:rPr>
              <a:t>Powered by AI: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</a:rPr>
              <a:t> Google Gemini Live drives natural voice responses with real-time lip sync.</a:t>
            </a:r>
            <a:endParaRPr/>
          </a:p>
        </p:txBody>
      </p:sp>
      <p:sp>
        <p:nvSpPr>
          <p:cNvPr id="407" name="Google Shape;407;p31"/>
          <p:cNvSpPr txBox="1"/>
          <p:nvPr/>
        </p:nvSpPr>
        <p:spPr>
          <a:xfrm>
            <a:off x="7000875" y="2578100"/>
            <a:ext cx="4619625" cy="6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CBD5E1"/>
                </a:solidFill>
                <a:latin typeface="Inter"/>
              </a:rPr>
              <a:t>Real Empathy: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</a:rPr>
              <a:t> Maria responds to your tone, pacing, and clinical actions throughout.</a:t>
            </a:r>
            <a:endParaRPr/>
          </a:p>
        </p:txBody>
      </p:sp>
      <p:sp>
        <p:nvSpPr>
          <p:cNvPr id="408" name="Google Shape;408;p31"/>
          <p:cNvSpPr txBox="1"/>
          <p:nvPr/>
        </p:nvSpPr>
        <p:spPr>
          <a:xfrm>
            <a:off x="7000875" y="3302000"/>
            <a:ext cx="4619625" cy="6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CBD5E1"/>
                </a:solidFill>
                <a:latin typeface="Inter"/>
              </a:rPr>
              <a:t>Real Fears: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</a:rPr>
              <a:t> She asks the hard questions — </a:t>
            </a:r>
            <a:r>
              <a:rPr lang="en-US" sz="1500" b="0" i="1" u="none" strike="noStrike" cap="none" dirty="0">
                <a:solidFill>
                  <a:srgbClr val="CBD5E1"/>
                </a:solidFill>
                <a:latin typeface="Inter"/>
              </a:rPr>
              <a:t>"Will this make me sick?"</a:t>
            </a:r>
            <a:endParaRPr/>
          </a:p>
        </p:txBody>
      </p:sp>
      <p:pic>
        <p:nvPicPr>
          <p:cNvPr id="409" name="Graphic 409" descr="AI / voice icon for Powered by AI bullet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67500" y="1879600"/>
            <a:ext cx="228600" cy="228600"/>
          </a:xfrm>
          <a:prstGeom prst="rect">
            <a:avLst/>
          </a:prstGeom>
        </p:spPr>
      </p:pic>
      <p:pic>
        <p:nvPicPr>
          <p:cNvPr id="410" name="Graphic 410" descr="Heart icon for Real Empathy bullet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67500" y="2603500"/>
            <a:ext cx="228600" cy="228600"/>
          </a:xfrm>
          <a:prstGeom prst="rect">
            <a:avLst/>
          </a:prstGeom>
        </p:spPr>
      </p:pic>
      <p:pic>
        <p:nvPicPr>
          <p:cNvPr id="411" name="Graphic 411" descr="Chat bubble icon for Real Fears bullet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67500" y="3327400"/>
            <a:ext cx="228600" cy="2286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5A41046-AEC3-076B-69B4-D56894F5C9B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07190" y="219075"/>
            <a:ext cx="3119745" cy="6419850"/>
          </a:xfrm>
          <a:prstGeom prst="rect">
            <a:avLst/>
          </a:prstGeom>
        </p:spPr>
      </p:pic>
      <p:sp>
        <p:nvSpPr>
          <p:cNvPr id="412" name="Bullet412"/>
          <p:cNvSpPr>
            <a:spLocks noGrp="1"/>
          </p:cNvSpPr>
          <p:nvPr/>
        </p:nvSpPr>
        <p:spPr>
          <a:xfrm>
            <a:off x="6997700" y="4025900"/>
            <a:ext cx="4622800" cy="635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CBD5E1"/>
                </a:solidFill>
                <a:latin typeface="Inter"/>
              </a:rPr>
              <a:t>Builds Rapport: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</a:rPr>
              <a:t> Guarded at first, opens up through active listening.</a:t>
            </a:r>
            <a:endParaRPr/>
          </a:p>
        </p:txBody>
      </p:sp>
      <p:sp>
        <p:nvSpPr>
          <p:cNvPr id="413" name="Bullet413"/>
          <p:cNvSpPr>
            <a:spLocks noGrp="1"/>
          </p:cNvSpPr>
          <p:nvPr/>
        </p:nvSpPr>
        <p:spPr>
          <a:xfrm>
            <a:off x="6997700" y="4749800"/>
            <a:ext cx="4622800" cy="635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CBD5E1"/>
                </a:solidFill>
                <a:latin typeface="Inter"/>
              </a:rPr>
              <a:t>Medication-Responsive: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</a:rPr>
              <a:t> Anxiety eases when dosing and explanation are correct.</a:t>
            </a:r>
            <a:endParaRPr/>
          </a:p>
        </p:txBody>
      </p:sp>
      <p:sp>
        <p:nvSpPr>
          <p:cNvPr id="414" name="Bullet414"/>
          <p:cNvSpPr>
            <a:spLocks noGrp="1"/>
          </p:cNvSpPr>
          <p:nvPr/>
        </p:nvSpPr>
        <p:spPr>
          <a:xfrm>
            <a:off x="6997700" y="5473700"/>
            <a:ext cx="4622800" cy="635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CBD5E1"/>
                </a:solidFill>
                <a:latin typeface="Inter"/>
              </a:rPr>
              <a:t>Clinical Assistant: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</a:rPr>
              <a:t> AI guide answers questions and coaches you through the case.</a:t>
            </a:r>
            <a:endParaRPr/>
          </a:p>
        </p:txBody>
      </p:sp>
      <p:pic>
        <p:nvPicPr>
          <p:cNvPr id="415" name="Graphic 415" descr="Heart lock icon for Builds Rapport bullet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67500" y="4051300"/>
            <a:ext cx="228600" cy="228600"/>
          </a:xfrm>
          <a:prstGeom prst="rect">
            <a:avLst/>
          </a:prstGeom>
        </p:spPr>
      </p:pic>
      <p:pic>
        <p:nvPicPr>
          <p:cNvPr id="416" name="Graphic 416" descr="Stethoscope icon for Medication-Responsive bullet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67500" y="4775200"/>
            <a:ext cx="228600" cy="228600"/>
          </a:xfrm>
          <a:prstGeom prst="rect">
            <a:avLst/>
          </a:prstGeom>
        </p:spPr>
      </p:pic>
      <p:pic>
        <p:nvPicPr>
          <p:cNvPr id="417" name="Graphic 417" descr="Lightbulb icon for Clinical Assistant bullet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67500" y="5499100"/>
            <a:ext cx="228600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2368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6" name="Google Shape;416;p3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32"/>
          <p:cNvSpPr txBox="1"/>
          <p:nvPr/>
        </p:nvSpPr>
        <p:spPr>
          <a:xfrm>
            <a:off x="571500" y="457200"/>
            <a:ext cx="5200650" cy="4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Clinical Interface</a:t>
            </a:r>
            <a:endParaRPr dirty="0"/>
          </a:p>
        </p:txBody>
      </p:sp>
      <p:sp>
        <p:nvSpPr>
          <p:cNvPr id="418" name="Google Shape;418;p32"/>
          <p:cNvSpPr/>
          <p:nvPr/>
        </p:nvSpPr>
        <p:spPr>
          <a:xfrm>
            <a:off x="571500" y="1092200"/>
            <a:ext cx="4953000" cy="25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32"/>
          <p:cNvSpPr txBox="1"/>
          <p:nvPr/>
        </p:nvSpPr>
        <p:spPr>
          <a:xfrm>
            <a:off x="571500" y="1295400"/>
            <a:ext cx="4953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HUD displays your current step and clear clinical objectives.</a:t>
            </a:r>
            <a:endParaRPr/>
          </a:p>
        </p:txBody>
      </p:sp>
      <p:sp>
        <p:nvSpPr>
          <p:cNvPr id="421" name="Google Shape;421;p32"/>
          <p:cNvSpPr txBox="1"/>
          <p:nvPr/>
        </p:nvSpPr>
        <p:spPr>
          <a:xfrm>
            <a:off x="904875" y="2095500"/>
            <a:ext cx="4619625" cy="3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Clinical Tool Bar:</a:t>
            </a:r>
            <a:endParaRPr/>
          </a:p>
        </p:txBody>
      </p:sp>
      <p:sp>
        <p:nvSpPr>
          <p:cNvPr id="422" name="Google Shape;422;p32"/>
          <p:cNvSpPr txBox="1"/>
          <p:nvPr/>
        </p:nvSpPr>
        <p:spPr>
          <a:xfrm>
            <a:off x="904875" y="4330700"/>
            <a:ext cx="4619625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Clinical Guardrails: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The simulator enforces real-world safety rules. Steps remain locked until critical actions are completed, preventing premature interventions.</a:t>
            </a:r>
            <a:endParaRPr/>
          </a:p>
        </p:txBody>
      </p:sp>
      <p:pic>
        <p:nvPicPr>
          <p:cNvPr id="423" name="Google Shape;423;p3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133600"/>
            <a:ext cx="190500" cy="203200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32"/>
          <p:cNvSpPr txBox="1"/>
          <p:nvPr/>
        </p:nvSpPr>
        <p:spPr>
          <a:xfrm>
            <a:off x="1117600" y="2514600"/>
            <a:ext cx="4508500" cy="4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COWS Assessment: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Scale for opioid withdrawal</a:t>
            </a:r>
            <a:endParaRPr/>
          </a:p>
        </p:txBody>
      </p:sp>
      <p:sp>
        <p:nvSpPr>
          <p:cNvPr id="425" name="Google Shape;425;p32"/>
          <p:cNvSpPr txBox="1"/>
          <p:nvPr/>
        </p:nvSpPr>
        <p:spPr>
          <a:xfrm>
            <a:off x="1117600" y="3035300"/>
            <a:ext cx="4508500" cy="3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Quick Orders: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Labs, meds, and imaging</a:t>
            </a:r>
            <a:endParaRPr/>
          </a:p>
        </p:txBody>
      </p:sp>
      <p:sp>
        <p:nvSpPr>
          <p:cNvPr id="426" name="Google Shape;426;p32"/>
          <p:cNvSpPr txBox="1"/>
          <p:nvPr/>
        </p:nvSpPr>
        <p:spPr>
          <a:xfrm>
            <a:off x="1117600" y="3454400"/>
            <a:ext cx="4508500" cy="3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Results: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Imaging and lab reports</a:t>
            </a:r>
            <a:endParaRPr/>
          </a:p>
        </p:txBody>
      </p:sp>
      <p:sp>
        <p:nvSpPr>
          <p:cNvPr id="427" name="Google Shape;427;p32"/>
          <p:cNvSpPr txBox="1"/>
          <p:nvPr/>
        </p:nvSpPr>
        <p:spPr>
          <a:xfrm>
            <a:off x="1117600" y="3873500"/>
            <a:ext cx="4508500" cy="3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Discharge Plan: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Rx &amp; follow-up</a:t>
            </a:r>
            <a:endParaRPr/>
          </a:p>
        </p:txBody>
      </p:sp>
      <p:pic>
        <p:nvPicPr>
          <p:cNvPr id="428" name="Google Shape;428;p3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368800"/>
            <a:ext cx="177800" cy="20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DA62822-DF17-9F0E-D1D6-B764CD5C555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56123" y="588786"/>
            <a:ext cx="6004253" cy="5680428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6" name="Google Shape;416;p3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32"/>
          <p:cNvSpPr txBox="1"/>
          <p:nvPr/>
        </p:nvSpPr>
        <p:spPr>
          <a:xfrm>
            <a:off x="571500" y="457200"/>
            <a:ext cx="5200650" cy="4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dirty="0">
                <a:solidFill>
                  <a:srgbClr val="F8FAFC"/>
                </a:solidFill>
                <a:latin typeface="Plus Jakarta Sans"/>
              </a:rPr>
              <a:t>Personalized Debrief</a:t>
            </a:r>
            <a:endParaRPr/>
          </a:p>
        </p:txBody>
      </p:sp>
      <p:sp>
        <p:nvSpPr>
          <p:cNvPr id="418" name="Google Shape;418;p32"/>
          <p:cNvSpPr/>
          <p:nvPr/>
        </p:nvSpPr>
        <p:spPr>
          <a:xfrm>
            <a:off x="571500" y="1092200"/>
            <a:ext cx="4953000" cy="25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C0BFB0-521F-D3D9-7CAB-49BB1EA59D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3033" y="1252596"/>
            <a:ext cx="8525933" cy="5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259631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3" name="Google Shape;433;p3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p3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397000"/>
            <a:ext cx="3492549" cy="495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5" name="Google Shape;435;p3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1397000"/>
            <a:ext cx="3492549" cy="495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3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1397000"/>
            <a:ext cx="3492549" cy="4953000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33"/>
          <p:cNvSpPr txBox="1"/>
          <p:nvPr/>
        </p:nvSpPr>
        <p:spPr>
          <a:xfrm>
            <a:off x="866775" y="2260600"/>
            <a:ext cx="30480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dirty="0">
                <a:solidFill>
                  <a:srgbClr val="06B6D4"/>
                </a:solidFill>
                <a:latin typeface="Plus Jakarta Sans SemiBold"/>
              </a:rPr>
              <a:t>Buprenorphine Utilization</a:t>
            </a:r>
            <a:endParaRPr/>
          </a:p>
        </p:txBody>
      </p:sp>
      <p:sp>
        <p:nvSpPr>
          <p:cNvPr id="438" name="Google Shape;438;p33"/>
          <p:cNvSpPr txBox="1"/>
          <p:nvPr/>
        </p:nvSpPr>
        <p:spPr>
          <a:xfrm>
            <a:off x="866775" y="2870200"/>
            <a:ext cx="3048000" cy="327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dirty="0">
                <a:solidFill>
                  <a:srgbClr val="CBD5E1"/>
                </a:solidFill>
                <a:latin typeface="Inter"/>
              </a:rPr>
              <a:t>Tracks the number of buprenorphine </a:t>
            </a:r>
            <a:r>
              <a:rPr lang="en-US" sz="1500" b="1" dirty="0">
                <a:solidFill>
                  <a:srgbClr val="CBD5E1"/>
                </a:solidFill>
                <a:latin typeface="Inter"/>
              </a:rPr>
              <a:t>inductions performed in the ED</a:t>
            </a:r>
            <a:r>
              <a:rPr lang="en-US" sz="1500" b="0" dirty="0">
                <a:solidFill>
                  <a:srgbClr val="CBD5E1"/>
                </a:solidFill>
                <a:latin typeface="Inter"/>
              </a:rPr>
              <a:t> before and after training to measure real-world clinical impact.</a:t>
            </a:r>
            <a:endParaRPr/>
          </a:p>
        </p:txBody>
      </p:sp>
      <p:sp>
        <p:nvSpPr>
          <p:cNvPr id="439" name="Google Shape;439;p33"/>
          <p:cNvSpPr txBox="1"/>
          <p:nvPr/>
        </p:nvSpPr>
        <p:spPr>
          <a:xfrm>
            <a:off x="4645074" y="2260600"/>
            <a:ext cx="30480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dirty="0">
                <a:solidFill>
                  <a:srgbClr val="06B6D4"/>
                </a:solidFill>
                <a:latin typeface="Plus Jakarta Sans SemiBold"/>
              </a:rPr>
              <a:t>Confidence Scoring</a:t>
            </a:r>
            <a:endParaRPr/>
          </a:p>
        </p:txBody>
      </p:sp>
      <p:sp>
        <p:nvSpPr>
          <p:cNvPr id="440" name="Google Shape;440;p33"/>
          <p:cNvSpPr txBox="1"/>
          <p:nvPr/>
        </p:nvSpPr>
        <p:spPr>
          <a:xfrm>
            <a:off x="4645074" y="2870200"/>
            <a:ext cx="3048000" cy="327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dirty="0">
                <a:solidFill>
                  <a:srgbClr val="CBD5E1"/>
                </a:solidFill>
                <a:latin typeface="Inter"/>
              </a:rPr>
              <a:t>Pre &amp; post-training Likert scale</a:t>
            </a:r>
            <a:r>
              <a:rPr lang="en-US" sz="1500" b="0" dirty="0">
                <a:solidFill>
                  <a:srgbClr val="CBD5E1"/>
                </a:solidFill>
                <a:latin typeface="Inter"/>
              </a:rPr>
              <a:t> measures self-reported confidence in initiating buprenorphine induction.</a:t>
            </a:r>
            <a:endParaRPr/>
          </a:p>
        </p:txBody>
      </p:sp>
      <p:sp>
        <p:nvSpPr>
          <p:cNvPr id="441" name="Google Shape;441;p33"/>
          <p:cNvSpPr txBox="1"/>
          <p:nvPr/>
        </p:nvSpPr>
        <p:spPr>
          <a:xfrm>
            <a:off x="8423374" y="2260600"/>
            <a:ext cx="30480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dirty="0">
                <a:solidFill>
                  <a:srgbClr val="06B6D4"/>
                </a:solidFill>
                <a:latin typeface="Plus Jakarta Sans SemiBold"/>
              </a:rPr>
              <a:t>Risk Reduction Goals</a:t>
            </a:r>
            <a:endParaRPr/>
          </a:p>
        </p:txBody>
      </p:sp>
      <p:sp>
        <p:nvSpPr>
          <p:cNvPr id="442" name="Google Shape;442;p33"/>
          <p:cNvSpPr txBox="1"/>
          <p:nvPr/>
        </p:nvSpPr>
        <p:spPr>
          <a:xfrm>
            <a:off x="8423374" y="2794000"/>
            <a:ext cx="3048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dirty="0">
                <a:solidFill>
                  <a:srgbClr val="CBD5E1"/>
                </a:solidFill>
                <a:latin typeface="Inter"/>
              </a:rPr>
              <a:t>By increasing physician confidence and buprenorphine utilization, we aim to reduce post-discharge relapse, opioid-related overdose, and the downstream complications of undertreated withdrawal.</a:t>
            </a:r>
            <a:endParaRPr/>
          </a:p>
        </p:txBody>
      </p:sp>
      <p:pic>
        <p:nvPicPr>
          <p:cNvPr id="443" name="Google Shape;443;p3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6775" y="1625600"/>
            <a:ext cx="508000" cy="50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4" name="Google Shape;444;p3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45074" y="1625600"/>
            <a:ext cx="508000" cy="50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5" name="Google Shape;445;p3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23374" y="1625600"/>
            <a:ext cx="508000" cy="50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p33"/>
          <p:cNvSpPr txBox="1"/>
          <p:nvPr/>
        </p:nvSpPr>
        <p:spPr>
          <a:xfrm>
            <a:off x="571500" y="476250"/>
            <a:ext cx="116014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dirty="0">
                <a:solidFill>
                  <a:srgbClr val="F8FAFC"/>
                </a:solidFill>
                <a:latin typeface="Plus Jakarta Sans"/>
              </a:rPr>
              <a:t>CPMP Risk Mitigation Grant: Analytics</a:t>
            </a:r>
            <a:endParaRPr dirty="0"/>
          </a:p>
        </p:txBody>
      </p:sp>
      <p:sp>
        <p:nvSpPr>
          <p:cNvPr id="447" name="Google Shape;447;p33"/>
          <p:cNvSpPr/>
          <p:nvPr/>
        </p:nvSpPr>
        <p:spPr>
          <a:xfrm>
            <a:off x="571500" y="1123950"/>
            <a:ext cx="1104900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8641499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Shape 432">
          <a:extLst>
            <a:ext uri="{FF2B5EF4-FFF2-40B4-BE49-F238E27FC236}">
              <a16:creationId xmlns:a16="http://schemas.microsoft.com/office/drawing/2014/main" id="{AB294ADB-164C-D6CD-FFD7-69A340CF94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3456108-7D42-CF38-E021-A4469ED5E6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467" y="743628"/>
            <a:ext cx="10905066" cy="5370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853901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Shape 432">
          <a:extLst>
            <a:ext uri="{FF2B5EF4-FFF2-40B4-BE49-F238E27FC236}">
              <a16:creationId xmlns:a16="http://schemas.microsoft.com/office/drawing/2014/main" id="{FC063E83-4AE4-E075-E373-553666E5C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E1FA0AF-B013-E35F-8DF0-7B330D1D6A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467" y="743628"/>
            <a:ext cx="10905066" cy="5370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3600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Shape 432">
          <a:extLst>
            <a:ext uri="{FF2B5EF4-FFF2-40B4-BE49-F238E27FC236}">
              <a16:creationId xmlns:a16="http://schemas.microsoft.com/office/drawing/2014/main" id="{371E6A5F-DFAC-D21D-4125-58BA31457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8489C34-2BD1-4974-C693-A82D1875C26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428" r="1" b="1"/>
          <a:stretch>
            <a:fillRect/>
          </a:stretch>
        </p:blipFill>
        <p:spPr>
          <a:xfrm>
            <a:off x="1143014" y="643466"/>
            <a:ext cx="9905972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401220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1" name="Google Shape;401;p3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31"/>
          <p:cNvSpPr txBox="1"/>
          <p:nvPr/>
        </p:nvSpPr>
        <p:spPr>
          <a:xfrm>
            <a:off x="762000" y="508000"/>
            <a:ext cx="10668000" cy="8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 dirty="0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</a:rPr>
              <a:t>Thank You!</a:t>
            </a:r>
          </a:p>
        </p:txBody>
      </p:sp>
      <p:sp>
        <p:nvSpPr>
          <p:cNvPr id="404" name="Google Shape;404;p31"/>
          <p:cNvSpPr/>
          <p:nvPr/>
        </p:nvSpPr>
        <p:spPr>
          <a:xfrm>
            <a:off x="762000" y="1498600"/>
            <a:ext cx="10668000" cy="25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31"/>
          <p:cNvSpPr txBox="1"/>
          <p:nvPr/>
        </p:nvSpPr>
        <p:spPr>
          <a:xfrm>
            <a:off x="762000" y="1600200"/>
            <a:ext cx="10668000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10B981"/>
                </a:solidFill>
                <a:latin typeface="Plus Jakarta Sans SemiBold"/>
                <a:ea typeface="Plus Jakarta Sans SemiBold"/>
                <a:cs typeface="Plus Jakarta Sans SemiBold"/>
              </a:rPr>
              <a:t>We appreciate your participation!</a:t>
            </a:r>
          </a:p>
        </p:txBody>
      </p:sp>
      <p:sp>
        <p:nvSpPr>
          <p:cNvPr id="406" name="Google Shape;406;p31"/>
          <p:cNvSpPr txBox="1"/>
          <p:nvPr/>
        </p:nvSpPr>
        <p:spPr>
          <a:xfrm>
            <a:off x="1219200" y="2387600"/>
            <a:ext cx="10414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F8FAFC"/>
                </a:solidFill>
                <a:latin typeface="Inter"/>
              </a:rPr>
              <a:t>Simulator Location: </a:t>
            </a:r>
            <a:r>
              <a:rPr lang="en-US" sz="1800" b="0" i="0" u="none" strike="noStrike" cap="none" dirty="0">
                <a:solidFill>
                  <a:srgbClr val="CBD5E1"/>
                </a:solidFill>
                <a:latin typeface="Inter"/>
              </a:rPr>
              <a:t>Resident Room, Emergency Department</a:t>
            </a:r>
          </a:p>
        </p:txBody>
      </p:sp>
      <p:sp>
        <p:nvSpPr>
          <p:cNvPr id="407" name="Google Shape;407;p31"/>
          <p:cNvSpPr txBox="1"/>
          <p:nvPr/>
        </p:nvSpPr>
        <p:spPr>
          <a:xfrm>
            <a:off x="1219200" y="3149600"/>
            <a:ext cx="10414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F8FAFC"/>
                </a:solidFill>
                <a:latin typeface="Inter"/>
              </a:rPr>
              <a:t>iPad Code: </a:t>
            </a:r>
            <a:r>
              <a:rPr lang="en-US" sz="1800" b="0" i="0" u="none" strike="noStrike" cap="none" dirty="0">
                <a:solidFill>
                  <a:srgbClr val="CBD5E1"/>
                </a:solidFill>
                <a:latin typeface="Inter"/>
              </a:rPr>
              <a:t>3-8-8-0</a:t>
            </a:r>
          </a:p>
        </p:txBody>
      </p:sp>
      <p:sp>
        <p:nvSpPr>
          <p:cNvPr id="408" name="Google Shape;408;p31"/>
          <p:cNvSpPr txBox="1"/>
          <p:nvPr/>
        </p:nvSpPr>
        <p:spPr>
          <a:xfrm>
            <a:off x="1219200" y="4318000"/>
            <a:ext cx="10414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F8FAFC"/>
                </a:solidFill>
                <a:latin typeface="Inter"/>
              </a:rPr>
              <a:t>Bryan English, MD  </a:t>
            </a:r>
            <a:r>
              <a:rPr lang="en-US" sz="1800" b="0" i="0" u="none" strike="noStrike" cap="none" dirty="0">
                <a:solidFill>
                  <a:srgbClr val="CBD5E1"/>
                </a:solidFill>
                <a:latin typeface="Inter"/>
              </a:rPr>
              <a:t>bryan.english@stonybrookmedicine.edu</a:t>
            </a:r>
          </a:p>
        </p:txBody>
      </p:sp>
      <p:pic>
        <p:nvPicPr>
          <p:cNvPr id="409" name="Graphic 409" descr="AI / voice icon for Powered by AI bullet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2000" y="2425700"/>
            <a:ext cx="279400" cy="279400"/>
          </a:xfrm>
          <a:prstGeom prst="rect">
            <a:avLst/>
          </a:prstGeom>
        </p:spPr>
      </p:pic>
      <p:pic>
        <p:nvPicPr>
          <p:cNvPr id="410" name="Graphic 410" descr="Heart icon for Real Empathy bullet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2000" y="3187700"/>
            <a:ext cx="279400" cy="279400"/>
          </a:xfrm>
          <a:prstGeom prst="rect">
            <a:avLst/>
          </a:prstGeom>
        </p:spPr>
      </p:pic>
      <p:pic>
        <p:nvPicPr>
          <p:cNvPr id="411" name="Graphic 411" descr="Chat bubble icon for Real Fears bullet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2000" y="4356100"/>
            <a:ext cx="279400" cy="279400"/>
          </a:xfrm>
          <a:prstGeom prst="rect">
            <a:avLst/>
          </a:prstGeom>
        </p:spPr>
      </p:pic>
      <p:sp>
        <p:nvSpPr>
          <p:cNvPr id="412" name="Bullet412"/>
          <p:cNvSpPr>
            <a:spLocks noGrp="1"/>
          </p:cNvSpPr>
          <p:nvPr/>
        </p:nvSpPr>
        <p:spPr>
          <a:xfrm>
            <a:off x="1219200" y="5080000"/>
            <a:ext cx="104140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F8FAFC"/>
                </a:solidFill>
                <a:latin typeface="Inter"/>
              </a:rPr>
              <a:t>David Paddock, MD  </a:t>
            </a:r>
            <a:r>
              <a:rPr lang="en-US" sz="1800" b="0" i="0" u="none" strike="noStrike" cap="none" dirty="0">
                <a:solidFill>
                  <a:srgbClr val="CBD5E1"/>
                </a:solidFill>
                <a:latin typeface="Inter"/>
              </a:rPr>
              <a:t>david.paddock@stonybrookmedicine.edu</a:t>
            </a:r>
          </a:p>
        </p:txBody>
      </p:sp>
      <p:pic>
        <p:nvPicPr>
          <p:cNvPr id="413" name="Copied Picture 413" descr="Chat bubble icon for Real Fears bullet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2000" y="5118100"/>
            <a:ext cx="279400" cy="2794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1941A40-7ECA-3A4E-A88A-AEE360009191}"/>
              </a:ext>
            </a:extLst>
          </p:cNvPr>
          <p:cNvSpPr txBox="1"/>
          <p:nvPr/>
        </p:nvSpPr>
        <p:spPr>
          <a:xfrm>
            <a:off x="762000" y="3911600"/>
            <a:ext cx="10414000" cy="381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10B981"/>
                </a:solidFill>
                <a:latin typeface="Plus Jakarta Sans SemiBold"/>
                <a:ea typeface="Plus Jakarta Sans SemiBold"/>
                <a:cs typeface="Plus Jakarta Sans SemiBold"/>
              </a:rPr>
              <a:t>For assistance:</a:t>
            </a:r>
          </a:p>
        </p:txBody>
      </p:sp>
    </p:spTree>
    <p:extLst>
      <p:ext uri="{BB962C8B-B14F-4D97-AF65-F5344CB8AC3E}">
        <p14:creationId xmlns:p14="http://schemas.microsoft.com/office/powerpoint/2010/main" val="19790652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A37190C-850B-8048-BACD-E5737F6BC430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30121bfd-2344-4571-8d2f-e972192fb639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276</TotalTime>
  <Words>2580</Words>
  <Application>Microsoft Macintosh PowerPoint</Application>
  <PresentationFormat>Widescreen</PresentationFormat>
  <Paragraphs>298</Paragraphs>
  <Slides>32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1" baseType="lpstr">
      <vt:lpstr>Plus Jakarta Sans ExtraBold</vt:lpstr>
      <vt:lpstr>Arial</vt:lpstr>
      <vt:lpstr>Plus Jakarta Sans SemiBold</vt:lpstr>
      <vt:lpstr>Calibri</vt:lpstr>
      <vt:lpstr>Inter</vt:lpstr>
      <vt:lpstr>Inter SemiBold</vt:lpstr>
      <vt:lpstr>Inter Medium</vt:lpstr>
      <vt:lpstr>Plus Jakarta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English, Bryan Patrick</cp:lastModifiedBy>
  <cp:revision>12</cp:revision>
  <dcterms:modified xsi:type="dcterms:W3CDTF">2026-04-09T05:14:04Z</dcterms:modified>
</cp:coreProperties>
</file>